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y="5143500" cx="9144000"/>
  <p:notesSz cx="6858000" cy="9144000"/>
  <p:embeddedFontLst>
    <p:embeddedFont>
      <p:font typeface="Google Sans"/>
      <p:regular r:id="rId36"/>
      <p:bold r:id="rId37"/>
      <p:italic r:id="rId38"/>
      <p:boldItalic r:id="rId39"/>
    </p:embeddedFont>
    <p:embeddedFont>
      <p:font typeface="Roboto Mono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653">
          <p15:clr>
            <a:srgbClr val="747775"/>
          </p15:clr>
        </p15:guide>
        <p15:guide id="2" orient="horz" pos="1296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DDDCF97-6103-453E-99EC-66EA745E5C7C}">
  <a:tblStyle styleId="{2DDDCF97-6103-453E-99EC-66EA745E5C7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53"/>
        <p:guide pos="1296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regular.fntdata"/><Relationship Id="rId20" Type="http://schemas.openxmlformats.org/officeDocument/2006/relationships/slide" Target="slides/slide14.xml"/><Relationship Id="rId42" Type="http://schemas.openxmlformats.org/officeDocument/2006/relationships/font" Target="fonts/RobotoMono-italic.fntdata"/><Relationship Id="rId41" Type="http://schemas.openxmlformats.org/officeDocument/2006/relationships/font" Target="fonts/RobotoMono-bold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43" Type="http://schemas.openxmlformats.org/officeDocument/2006/relationships/font" Target="fonts/RobotoMono-bold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GoogleSans-bold.fntdata"/><Relationship Id="rId14" Type="http://schemas.openxmlformats.org/officeDocument/2006/relationships/slide" Target="slides/slide8.xml"/><Relationship Id="rId36" Type="http://schemas.openxmlformats.org/officeDocument/2006/relationships/font" Target="fonts/GoogleSans-regular.fntdata"/><Relationship Id="rId17" Type="http://schemas.openxmlformats.org/officeDocument/2006/relationships/slide" Target="slides/slide11.xml"/><Relationship Id="rId39" Type="http://schemas.openxmlformats.org/officeDocument/2006/relationships/font" Target="fonts/GoogleSans-boldItalic.fntdata"/><Relationship Id="rId16" Type="http://schemas.openxmlformats.org/officeDocument/2006/relationships/slide" Target="slides/slide10.xml"/><Relationship Id="rId38" Type="http://schemas.openxmlformats.org/officeDocument/2006/relationships/font" Target="fonts/GoogleSans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t_title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t_title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slide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slide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slide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slide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sec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sec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slide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slide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slide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slide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sec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sec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slide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slide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slide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slide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slide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slide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slide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slide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sec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sec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slide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slide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slide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slide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slide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slide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slide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slide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slide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slide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slide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slide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slide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slide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sec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sec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slide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slide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slide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slide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slide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slide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slide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slide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slide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slide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slide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slide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slide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slide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slide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slide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t_qna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t_qna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NAL INSTRUCTIONS" showMasterSp="0">
  <p:cSld name="TITLE_AND_BODY_1">
    <p:bg>
      <p:bgPr>
        <a:solidFill>
          <a:srgbClr val="B71C1C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- Blue">
  <p:cSld name="CUSTOM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/>
          <p:nvPr>
            <p:ph type="title"/>
          </p:nvPr>
        </p:nvSpPr>
        <p:spPr>
          <a:xfrm>
            <a:off x="694607" y="2077456"/>
            <a:ext cx="4568100" cy="25449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-column grid">
  <p:cSld name="SECTION_HEADER_1">
    <p:bg>
      <p:bgPr>
        <a:solidFill>
          <a:srgbClr val="FFFFF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pos="225">
          <p15:clr>
            <a:srgbClr val="FA7B17"/>
          </p15:clr>
        </p15:guide>
        <p15:guide id="2" pos="984">
          <p15:clr>
            <a:srgbClr val="FA7B17"/>
          </p15:clr>
        </p15:guide>
        <p15:guide id="3" pos="2808">
          <p15:clr>
            <a:srgbClr val="FA7B17"/>
          </p15:clr>
        </p15:guide>
        <p15:guide id="4" pos="2952">
          <p15:clr>
            <a:srgbClr val="FA7B17"/>
          </p15:clr>
        </p15:guide>
        <p15:guide id="5" pos="3718">
          <p15:clr>
            <a:srgbClr val="FA7B17"/>
          </p15:clr>
        </p15:guide>
        <p15:guide id="6" pos="3864">
          <p15:clr>
            <a:srgbClr val="FA7B17"/>
          </p15:clr>
        </p15:guide>
        <p15:guide id="7" pos="4628">
          <p15:clr>
            <a:srgbClr val="FA7B17"/>
          </p15:clr>
        </p15:guide>
        <p15:guide id="8" pos="4776">
          <p15:clr>
            <a:srgbClr val="FA7B17"/>
          </p15:clr>
        </p15:guide>
        <p15:guide id="9" pos="5535">
          <p15:clr>
            <a:srgbClr val="FA7B17"/>
          </p15:clr>
        </p15:guide>
        <p15:guide id="10" orient="horz" pos="225">
          <p15:clr>
            <a:srgbClr val="FA7B17"/>
          </p15:clr>
        </p15:guide>
        <p15:guide id="11" orient="horz" pos="3015">
          <p15:clr>
            <a:srgbClr val="FA7B17"/>
          </p15:clr>
        </p15:guide>
        <p15:guide id="12" pos="1132">
          <p15:clr>
            <a:srgbClr val="FA7B17"/>
          </p15:clr>
        </p15:guide>
        <p15:guide id="13" pos="1896">
          <p15:clr>
            <a:srgbClr val="FA7B17"/>
          </p15:clr>
        </p15:guide>
        <p15:guide id="14" pos="2042">
          <p15:clr>
            <a:srgbClr val="FA7B17"/>
          </p15:clr>
        </p15:guide>
        <p15:guide id="15" orient="horz" pos="454">
          <p15:clr>
            <a:srgbClr val="FA7B17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4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jpg"/><Relationship Id="rId4" Type="http://schemas.openxmlformats.org/officeDocument/2006/relationships/image" Target="../media/image11.png"/><Relationship Id="rId5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jpg"/><Relationship Id="rId4" Type="http://schemas.openxmlformats.org/officeDocument/2006/relationships/image" Target="../media/image11.png"/><Relationship Id="rId5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jpg"/><Relationship Id="rId4" Type="http://schemas.openxmlformats.org/officeDocument/2006/relationships/image" Target="../media/image11.png"/><Relationship Id="rId5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4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6"/>
          <p:cNvSpPr/>
          <p:nvPr/>
        </p:nvSpPr>
        <p:spPr>
          <a:xfrm>
            <a:off x="0" y="0"/>
            <a:ext cx="9144000" cy="4510800"/>
          </a:xfrm>
          <a:prstGeom prst="rect">
            <a:avLst/>
          </a:prstGeom>
          <a:solidFill>
            <a:srgbClr val="FFE7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9" name="Google Shape;59;p16"/>
          <p:cNvSpPr/>
          <p:nvPr/>
        </p:nvSpPr>
        <p:spPr>
          <a:xfrm>
            <a:off x="3961150" y="1870238"/>
            <a:ext cx="4805100" cy="2107500"/>
          </a:xfrm>
          <a:prstGeom prst="roundRect">
            <a:avLst>
              <a:gd fmla="val 7725" name="adj"/>
            </a:avLst>
          </a:prstGeom>
          <a:solidFill>
            <a:schemeClr val="lt1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28600" spcFirstLastPara="1" rIns="4572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Intro to Cloud TPU</a:t>
            </a:r>
            <a:endParaRPr sz="30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Gemma 4 on a v5e chip, managed over MCP</a:t>
            </a:r>
            <a:endParaRPr sz="13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E1E1E"/>
                </a:solidFill>
                <a:latin typeface="Roboto Mono"/>
                <a:ea typeface="Roboto Mono"/>
                <a:cs typeface="Roboto Mono"/>
                <a:sym typeface="Roboto Mono"/>
              </a:rPr>
              <a:t>William McLean (xbill) · GDE Cloud + AI</a:t>
            </a:r>
            <a:endParaRPr sz="1100">
              <a:solidFill>
                <a:srgbClr val="1E1E1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pSp>
        <p:nvGrpSpPr>
          <p:cNvPr id="60" name="Google Shape;60;p16"/>
          <p:cNvGrpSpPr/>
          <p:nvPr/>
        </p:nvGrpSpPr>
        <p:grpSpPr>
          <a:xfrm>
            <a:off x="-134194" y="-147922"/>
            <a:ext cx="5154817" cy="2107563"/>
            <a:chOff x="4880208" y="88897"/>
            <a:chExt cx="4135101" cy="1690649"/>
          </a:xfrm>
        </p:grpSpPr>
        <p:pic>
          <p:nvPicPr>
            <p:cNvPr id="61" name="Google Shape;61;p16"/>
            <p:cNvPicPr preferRelativeResize="0"/>
            <p:nvPr/>
          </p:nvPicPr>
          <p:blipFill rotWithShape="1">
            <a:blip r:embed="rId3">
              <a:alphaModFix/>
            </a:blip>
            <a:srcRect b="63658" l="0" r="50000" t="0"/>
            <a:stretch/>
          </p:blipFill>
          <p:spPr>
            <a:xfrm>
              <a:off x="4880208" y="88897"/>
              <a:ext cx="4135101" cy="16906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" name="Google Shape;62;p16"/>
            <p:cNvSpPr txBox="1"/>
            <p:nvPr/>
          </p:nvSpPr>
          <p:spPr>
            <a:xfrm>
              <a:off x="5619657" y="936802"/>
              <a:ext cx="1418400" cy="31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3975" lIns="113975" spcFirstLastPara="1" rIns="113975" wrap="square" tIns="113975">
              <a:noAutofit/>
            </a:bodyPr>
            <a:lstStyle/>
            <a:p>
              <a:pPr indent="0" lvl="0" marL="0" rtl="0" algn="ctr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22">
                  <a:solidFill>
                    <a:schemeClr val="dk1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2026</a:t>
              </a:r>
              <a:endParaRPr sz="1122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</p:grpSp>
      <p:grpSp>
        <p:nvGrpSpPr>
          <p:cNvPr id="63" name="Google Shape;63;p16"/>
          <p:cNvGrpSpPr/>
          <p:nvPr/>
        </p:nvGrpSpPr>
        <p:grpSpPr>
          <a:xfrm>
            <a:off x="242453" y="4616453"/>
            <a:ext cx="8563473" cy="447000"/>
            <a:chOff x="202766" y="4576765"/>
            <a:chExt cx="8563473" cy="447000"/>
          </a:xfrm>
        </p:grpSpPr>
        <p:grpSp>
          <p:nvGrpSpPr>
            <p:cNvPr id="64" name="Google Shape;64;p16"/>
            <p:cNvGrpSpPr/>
            <p:nvPr/>
          </p:nvGrpSpPr>
          <p:grpSpPr>
            <a:xfrm>
              <a:off x="202766" y="4576765"/>
              <a:ext cx="7802107" cy="447000"/>
              <a:chOff x="2" y="4576750"/>
              <a:chExt cx="7802107" cy="447000"/>
            </a:xfrm>
          </p:grpSpPr>
          <p:grpSp>
            <p:nvGrpSpPr>
              <p:cNvPr id="65" name="Google Shape;65;p16"/>
              <p:cNvGrpSpPr/>
              <p:nvPr/>
            </p:nvGrpSpPr>
            <p:grpSpPr>
              <a:xfrm>
                <a:off x="2" y="4576750"/>
                <a:ext cx="4424670" cy="425750"/>
                <a:chOff x="2" y="4576750"/>
                <a:chExt cx="4424670" cy="425750"/>
              </a:xfrm>
            </p:grpSpPr>
            <p:pic>
              <p:nvPicPr>
                <p:cNvPr id="66" name="Google Shape;66;p16"/>
                <p:cNvPicPr preferRelativeResize="0"/>
                <p:nvPr/>
              </p:nvPicPr>
              <p:blipFill>
                <a:blip r:embed="rId4">
                  <a:alphaModFix/>
                </a:blip>
                <a:stretch>
                  <a:fillRect/>
                </a:stretch>
              </p:blipFill>
              <p:spPr>
                <a:xfrm>
                  <a:off x="2" y="4576750"/>
                  <a:ext cx="566523" cy="42575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67" name="Google Shape;67;p16"/>
                <p:cNvPicPr preferRelativeResize="0"/>
                <p:nvPr/>
              </p:nvPicPr>
              <p:blipFill>
                <a:blip r:embed="rId5">
                  <a:alphaModFix/>
                </a:blip>
                <a:stretch>
                  <a:fillRect/>
                </a:stretch>
              </p:blipFill>
              <p:spPr>
                <a:xfrm rot="-5400000">
                  <a:off x="2224516" y="4363894"/>
                  <a:ext cx="135942" cy="85148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68" name="Google Shape;68;p16"/>
                <p:cNvPicPr preferRelativeResize="0"/>
                <p:nvPr/>
              </p:nvPicPr>
              <p:blipFill>
                <a:blip r:embed="rId6">
                  <a:alphaModFix/>
                </a:blip>
                <a:stretch>
                  <a:fillRect/>
                </a:stretch>
              </p:blipFill>
              <p:spPr>
                <a:xfrm>
                  <a:off x="772819" y="4596753"/>
                  <a:ext cx="385741" cy="38574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69" name="Google Shape;69;p16"/>
                <p:cNvPicPr preferRelativeResize="0"/>
                <p:nvPr/>
              </p:nvPicPr>
              <p:blipFill>
                <a:blip r:embed="rId7">
                  <a:alphaModFix/>
                </a:blip>
                <a:stretch>
                  <a:fillRect/>
                </a:stretch>
              </p:blipFill>
              <p:spPr>
                <a:xfrm>
                  <a:off x="1364853" y="4616884"/>
                  <a:ext cx="375752" cy="34548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70" name="Google Shape;70;p16"/>
                <p:cNvPicPr preferRelativeResize="0"/>
                <p:nvPr/>
              </p:nvPicPr>
              <p:blipFill>
                <a:blip r:embed="rId6">
                  <a:alphaModFix/>
                </a:blip>
                <a:stretch>
                  <a:fillRect/>
                </a:stretch>
              </p:blipFill>
              <p:spPr>
                <a:xfrm>
                  <a:off x="2844369" y="4596753"/>
                  <a:ext cx="385741" cy="38574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71" name="Google Shape;71;p16"/>
                <p:cNvPicPr preferRelativeResize="0"/>
                <p:nvPr/>
              </p:nvPicPr>
              <p:blipFill>
                <a:blip r:embed="rId4">
                  <a:alphaModFix/>
                </a:blip>
                <a:stretch>
                  <a:fillRect/>
                </a:stretch>
              </p:blipFill>
              <p:spPr>
                <a:xfrm>
                  <a:off x="3356252" y="4576750"/>
                  <a:ext cx="566523" cy="42575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72" name="Google Shape;72;p16"/>
                <p:cNvPicPr preferRelativeResize="0"/>
                <p:nvPr/>
              </p:nvPicPr>
              <p:blipFill>
                <a:blip r:embed="rId7">
                  <a:alphaModFix/>
                </a:blip>
                <a:stretch>
                  <a:fillRect/>
                </a:stretch>
              </p:blipFill>
              <p:spPr>
                <a:xfrm>
                  <a:off x="4048920" y="4616884"/>
                  <a:ext cx="375752" cy="34548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pic>
            <p:nvPicPr>
              <p:cNvPr id="73" name="Google Shape;73;p16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572002" y="4598000"/>
                <a:ext cx="566523" cy="4257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4" name="Google Shape;74;p16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 rot="-5400000">
                <a:off x="6796516" y="4385144"/>
                <a:ext cx="135942" cy="85148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5" name="Google Shape;75;p16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5344819" y="4618003"/>
                <a:ext cx="385741" cy="38574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6" name="Google Shape;76;p16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5936853" y="4638134"/>
                <a:ext cx="375752" cy="34548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7" name="Google Shape;77;p16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7416369" y="4618003"/>
                <a:ext cx="385741" cy="38574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78" name="Google Shape;78;p1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199715" y="4587390"/>
              <a:ext cx="566523" cy="4257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9" name="Google Shape;79;p16"/>
          <p:cNvPicPr preferRelativeResize="0"/>
          <p:nvPr/>
        </p:nvPicPr>
        <p:blipFill rotWithShape="1">
          <a:blip r:embed="rId8">
            <a:alphaModFix/>
          </a:blip>
          <a:srcRect b="56723" l="19789" r="60334" t="6085"/>
          <a:stretch/>
        </p:blipFill>
        <p:spPr>
          <a:xfrm>
            <a:off x="1270925" y="1998225"/>
            <a:ext cx="2324750" cy="244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/>
          <p:cNvPicPr preferRelativeResize="0"/>
          <p:nvPr/>
        </p:nvPicPr>
        <p:blipFill rotWithShape="1">
          <a:blip r:embed="rId8">
            <a:alphaModFix/>
          </a:blip>
          <a:srcRect b="0" l="19164" r="54318" t="63187"/>
          <a:stretch/>
        </p:blipFill>
        <p:spPr>
          <a:xfrm>
            <a:off x="6577344" y="69563"/>
            <a:ext cx="2446877" cy="1910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7"/>
          <p:cNvPicPr preferRelativeResize="0"/>
          <p:nvPr/>
        </p:nvPicPr>
        <p:blipFill rotWithShape="1">
          <a:blip r:embed="rId3">
            <a:alphaModFix/>
          </a:blip>
          <a:srcRect b="0" l="0" r="19485" t="0"/>
          <a:stretch/>
        </p:blipFill>
        <p:spPr>
          <a:xfrm>
            <a:off x="7188567" y="266850"/>
            <a:ext cx="1743734" cy="2421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304800" y="254000"/>
            <a:ext cx="1737300" cy="53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About Me</a:t>
            </a:r>
            <a:endParaRPr sz="22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87" name="Google Shape;87;p17"/>
          <p:cNvSpPr/>
          <p:nvPr/>
        </p:nvSpPr>
        <p:spPr>
          <a:xfrm>
            <a:off x="304800" y="990600"/>
            <a:ext cx="4317900" cy="3174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William McLean (xbill)</a:t>
            </a:r>
            <a:endParaRPr b="1" sz="17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400"/>
              <a:buFont typeface="Google Sans"/>
              <a:buChar char="●"/>
            </a:pPr>
            <a:r>
              <a:rPr lang="en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AWS Community Builder 2026, AI</a:t>
            </a:r>
            <a:endParaRPr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400"/>
              <a:buFont typeface="Google Sans"/>
              <a:buChar char="●"/>
            </a:pPr>
            <a:r>
              <a:rPr lang="en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GDE (Google Developer Expert), Cloud and AI/ML</a:t>
            </a:r>
            <a:endParaRPr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400"/>
              <a:buFont typeface="Google Sans"/>
              <a:buChar char="●"/>
            </a:pPr>
            <a:r>
              <a:rPr lang="en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CTO and co-founder, Glitnir Ticketing</a:t>
            </a:r>
            <a:endParaRPr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400"/>
              <a:buFont typeface="Google Sans"/>
              <a:buChar char="●"/>
            </a:pPr>
            <a:r>
              <a:rPr lang="en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2026 goal: multi-cloud agents, tools and models</a:t>
            </a:r>
            <a:endParaRPr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88" name="Google Shape;88;p17"/>
          <p:cNvSpPr/>
          <p:nvPr/>
        </p:nvSpPr>
        <p:spPr>
          <a:xfrm>
            <a:off x="4826000" y="990600"/>
            <a:ext cx="4013100" cy="3174900"/>
          </a:xfrm>
          <a:prstGeom prst="roundRect">
            <a:avLst>
              <a:gd fmla="val 16667" name="adj"/>
            </a:avLst>
          </a:prstGeom>
          <a:solidFill>
            <a:srgbClr val="C3ECF6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Where to Find Me</a:t>
            </a:r>
            <a:endParaRPr b="1" sz="16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LinkedIn  linkedin.com/in/xbill</a:t>
            </a:r>
            <a:endParaRPr sz="13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Dev.to  dev.to/xbill</a:t>
            </a:r>
            <a:endParaRPr sz="13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Medium  medium.com/@xbill999</a:t>
            </a:r>
            <a:endParaRPr sz="13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GitHub  github.com/xbill9</a:t>
            </a:r>
            <a:endParaRPr sz="13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Hugging Face  huggingface.co/xbill9</a:t>
            </a:r>
            <a:endParaRPr sz="13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8"/>
          <p:cNvPicPr preferRelativeResize="0"/>
          <p:nvPr/>
        </p:nvPicPr>
        <p:blipFill rotWithShape="1">
          <a:blip r:embed="rId3">
            <a:alphaModFix/>
          </a:blip>
          <a:srcRect b="0" l="0" r="19485" t="0"/>
          <a:stretch/>
        </p:blipFill>
        <p:spPr>
          <a:xfrm>
            <a:off x="7188567" y="266850"/>
            <a:ext cx="1743734" cy="2421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304800" y="254000"/>
            <a:ext cx="1430100" cy="53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Agenda</a:t>
            </a:r>
            <a:endParaRPr sz="22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5" name="Google Shape;95;p18"/>
          <p:cNvSpPr/>
          <p:nvPr/>
        </p:nvSpPr>
        <p:spPr>
          <a:xfrm>
            <a:off x="711200" y="1016000"/>
            <a:ext cx="660300" cy="660300"/>
          </a:xfrm>
          <a:prstGeom prst="ellipse">
            <a:avLst/>
          </a:prstGeom>
          <a:solidFill>
            <a:srgbClr val="FFE7A5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01</a:t>
            </a:r>
            <a:endParaRPr b="1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6" name="Google Shape;96;p18"/>
          <p:cNvSpPr/>
          <p:nvPr/>
        </p:nvSpPr>
        <p:spPr>
          <a:xfrm>
            <a:off x="1549400" y="1079500"/>
            <a:ext cx="6096000" cy="507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Ten years of TPUs</a:t>
            </a:r>
            <a:endParaRPr sz="17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7" name="Google Shape;97;p18"/>
          <p:cNvSpPr/>
          <p:nvPr/>
        </p:nvSpPr>
        <p:spPr>
          <a:xfrm>
            <a:off x="711200" y="1727200"/>
            <a:ext cx="660300" cy="660300"/>
          </a:xfrm>
          <a:prstGeom prst="ellipse">
            <a:avLst/>
          </a:prstGeom>
          <a:solidFill>
            <a:srgbClr val="C3ECF6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02</a:t>
            </a:r>
            <a:endParaRPr b="1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8" name="Google Shape;98;p18"/>
          <p:cNvSpPr/>
          <p:nvPr/>
        </p:nvSpPr>
        <p:spPr>
          <a:xfrm>
            <a:off x="1549400" y="1790700"/>
            <a:ext cx="6096000" cy="507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The chips, and what they compute natively</a:t>
            </a:r>
            <a:endParaRPr sz="17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9" name="Google Shape;99;p18"/>
          <p:cNvSpPr/>
          <p:nvPr/>
        </p:nvSpPr>
        <p:spPr>
          <a:xfrm>
            <a:off x="711200" y="2438400"/>
            <a:ext cx="660300" cy="660300"/>
          </a:xfrm>
          <a:prstGeom prst="ellipse">
            <a:avLst/>
          </a:prstGeom>
          <a:solidFill>
            <a:srgbClr val="F7D8D8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03</a:t>
            </a:r>
            <a:endParaRPr b="1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0" name="Google Shape;100;p18"/>
          <p:cNvSpPr/>
          <p:nvPr/>
        </p:nvSpPr>
        <p:spPr>
          <a:xfrm>
            <a:off x="1549400" y="2501900"/>
            <a:ext cx="6096000" cy="507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Getting a chip: control planes, quota and price</a:t>
            </a:r>
            <a:endParaRPr sz="17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1" name="Google Shape;101;p18"/>
          <p:cNvSpPr/>
          <p:nvPr/>
        </p:nvSpPr>
        <p:spPr>
          <a:xfrm>
            <a:off x="711200" y="3149600"/>
            <a:ext cx="660300" cy="660300"/>
          </a:xfrm>
          <a:prstGeom prst="ellipse">
            <a:avLst/>
          </a:prstGeom>
          <a:solidFill>
            <a:srgbClr val="CCF6C5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04</a:t>
            </a:r>
            <a:endParaRPr b="1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2" name="Google Shape;102;p18"/>
          <p:cNvSpPr/>
          <p:nvPr/>
        </p:nvSpPr>
        <p:spPr>
          <a:xfrm>
            <a:off x="1549400" y="3213100"/>
            <a:ext cx="6096000" cy="507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Live demo: Gemma 4 on a v5e-1 over MCP</a:t>
            </a:r>
            <a:endParaRPr sz="17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3" name="Google Shape;103;p18"/>
          <p:cNvSpPr/>
          <p:nvPr/>
        </p:nvSpPr>
        <p:spPr>
          <a:xfrm>
            <a:off x="711200" y="3860800"/>
            <a:ext cx="660300" cy="660300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05</a:t>
            </a:r>
            <a:endParaRPr b="1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4" name="Google Shape;104;p18"/>
          <p:cNvSpPr/>
          <p:nvPr/>
        </p:nvSpPr>
        <p:spPr>
          <a:xfrm>
            <a:off x="1549400" y="3924300"/>
            <a:ext cx="6096000" cy="507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So, which one?</a:t>
            </a:r>
            <a:endParaRPr sz="17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9" title="DSC04697.jpg"/>
          <p:cNvPicPr preferRelativeResize="0"/>
          <p:nvPr/>
        </p:nvPicPr>
        <p:blipFill rotWithShape="1">
          <a:blip r:embed="rId3">
            <a:alphaModFix/>
          </a:blip>
          <a:srcRect b="0" l="26528" r="24264" t="8801"/>
          <a:stretch/>
        </p:blipFill>
        <p:spPr>
          <a:xfrm>
            <a:off x="4983250" y="0"/>
            <a:ext cx="416075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9" title="DF25_PresentationTemplate_Title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25" y="0"/>
            <a:ext cx="9144044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9"/>
          <p:cNvSpPr txBox="1"/>
          <p:nvPr/>
        </p:nvSpPr>
        <p:spPr>
          <a:xfrm>
            <a:off x="826989" y="890293"/>
            <a:ext cx="16599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Part 01</a:t>
            </a:r>
            <a:endParaRPr sz="95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2" name="Google Shape;112;p19"/>
          <p:cNvSpPr txBox="1"/>
          <p:nvPr/>
        </p:nvSpPr>
        <p:spPr>
          <a:xfrm>
            <a:off x="372375" y="2578922"/>
            <a:ext cx="4294200" cy="7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Ten Years</a:t>
            </a:r>
            <a:endParaRPr b="1" sz="40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of TPUs</a:t>
            </a:r>
            <a:endParaRPr b="1" sz="40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13" name="Google Shape;113;p19" title="curly-brackets@3x 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602252">
            <a:off x="2670488" y="2765588"/>
            <a:ext cx="1950549" cy="1950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0"/>
          <p:cNvPicPr preferRelativeResize="0"/>
          <p:nvPr/>
        </p:nvPicPr>
        <p:blipFill rotWithShape="1">
          <a:blip r:embed="rId3">
            <a:alphaModFix/>
          </a:blip>
          <a:srcRect b="0" l="0" r="19485" t="0"/>
          <a:stretch/>
        </p:blipFill>
        <p:spPr>
          <a:xfrm>
            <a:off x="7188567" y="266850"/>
            <a:ext cx="1743734" cy="24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0"/>
          <p:cNvSpPr/>
          <p:nvPr/>
        </p:nvSpPr>
        <p:spPr>
          <a:xfrm>
            <a:off x="304800" y="254000"/>
            <a:ext cx="6193800" cy="53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The First TPU Was Built for Inference</a:t>
            </a:r>
            <a:endParaRPr sz="22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aphicFrame>
        <p:nvGraphicFramePr>
          <p:cNvPr id="120" name="Google Shape;120;p20"/>
          <p:cNvGraphicFramePr/>
          <p:nvPr/>
        </p:nvGraphicFramePr>
        <p:xfrm>
          <a:off x="304800" y="96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{2DDDCF97-6103-453E-99EC-66EA745E5C7C}</a:tableStyleId>
              </a:tblPr>
              <a:tblGrid>
                <a:gridCol w="889000"/>
                <a:gridCol w="1651000"/>
                <a:gridCol w="5994400"/>
              </a:tblGrid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Year</a:t>
                      </a:r>
                      <a:endParaRPr b="1" sz="105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7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Chip</a:t>
                      </a:r>
                      <a:endParaRPr b="1" sz="105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7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What changed</a:t>
                      </a:r>
                      <a:endParaRPr b="1" sz="105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7A5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2015</a:t>
                      </a:r>
                      <a:endParaRPr b="1" sz="105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3EC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TPU v1</a:t>
                      </a:r>
                      <a:endParaRPr sz="105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3EC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Inference only, 8-bit, 92 TOPS; announced 2016</a:t>
                      </a:r>
                      <a:endParaRPr sz="105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3ECF6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2017</a:t>
                      </a:r>
                      <a:endParaRPr b="1" sz="105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TPU v2</a:t>
                      </a:r>
                      <a:endParaRPr sz="105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bf16 training, 180 TFLOPs per device, first pods</a:t>
                      </a:r>
                      <a:endParaRPr sz="105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2019</a:t>
                      </a:r>
                      <a:endParaRPr b="1" sz="105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TPU v3 pods</a:t>
                      </a:r>
                      <a:endParaRPr sz="105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Liquid cooled, 1,024 chips, public beta</a:t>
                      </a:r>
                      <a:endParaRPr sz="105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2021</a:t>
                      </a:r>
                      <a:endParaRPr b="1" sz="105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TPU v4</a:t>
                      </a:r>
                      <a:endParaRPr sz="105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Optical circuit switches, 4,096 chips</a:t>
                      </a:r>
                      <a:endParaRPr sz="105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2023</a:t>
                      </a:r>
                      <a:endParaRPr b="1" sz="105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v5e and v5p</a:t>
                      </a:r>
                      <a:endParaRPr sz="105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Cost-optimized v5e; v5p with 95 GiB HBM</a:t>
                      </a:r>
                      <a:endParaRPr sz="105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2024</a:t>
                      </a:r>
                      <a:endParaRPr b="1" sz="105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v6e Trillium</a:t>
                      </a:r>
                      <a:endParaRPr sz="105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4.7x v5e peak compute</a:t>
                      </a:r>
                      <a:endParaRPr sz="105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2025</a:t>
                      </a:r>
                      <a:endParaRPr b="1" sz="105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3EC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TPU7x Ironwood</a:t>
                      </a:r>
                      <a:endParaRPr sz="105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3EC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fp8, 192 GiB HBM; “first TPU for the age of inference”; GA March 2026</a:t>
                      </a:r>
                      <a:endParaRPr sz="105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3ECF6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2026</a:t>
                      </a:r>
                      <a:endParaRPr b="1" sz="105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3EC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TPU 8t and 8i</a:t>
                      </a:r>
                      <a:endParaRPr sz="105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3EC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Announced April 2026; 8i is the inference part</a:t>
                      </a:r>
                      <a:endParaRPr sz="105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3ECF6"/>
                    </a:solidFill>
                  </a:tcPr>
                </a:tc>
              </a:tr>
            </a:tbl>
          </a:graphicData>
        </a:graphic>
      </p:graphicFrame>
      <p:sp>
        <p:nvSpPr>
          <p:cNvPr id="121" name="Google Shape;121;p20"/>
          <p:cNvSpPr txBox="1"/>
          <p:nvPr/>
        </p:nvSpPr>
        <p:spPr>
          <a:xfrm>
            <a:off x="304800" y="4775200"/>
            <a:ext cx="8534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rPr>
              <a:t>Blue rows: the inference-first chips. Sources: Google Cloud and Google blogs 2016 to 2026; Jouppi et al., arXiv 1704.04760.</a:t>
            </a:r>
            <a:endParaRPr sz="850">
              <a:solidFill>
                <a:srgbClr val="5F6368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1"/>
          <p:cNvPicPr preferRelativeResize="0"/>
          <p:nvPr/>
        </p:nvPicPr>
        <p:blipFill rotWithShape="1">
          <a:blip r:embed="rId3">
            <a:alphaModFix/>
          </a:blip>
          <a:srcRect b="0" l="0" r="19485" t="0"/>
          <a:stretch/>
        </p:blipFill>
        <p:spPr>
          <a:xfrm>
            <a:off x="7188567" y="266850"/>
            <a:ext cx="1743734" cy="24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1"/>
          <p:cNvSpPr/>
          <p:nvPr/>
        </p:nvSpPr>
        <p:spPr>
          <a:xfrm>
            <a:off x="304800" y="254000"/>
            <a:ext cx="5788800" cy="53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vLLM Reaches the TPU Through tpu-inference</a:t>
            </a:r>
            <a:endParaRPr sz="1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28" name="Google Shape;128;p21"/>
          <p:cNvSpPr/>
          <p:nvPr/>
        </p:nvSpPr>
        <p:spPr>
          <a:xfrm>
            <a:off x="304800" y="990600"/>
            <a:ext cx="3174900" cy="609600"/>
          </a:xfrm>
          <a:prstGeom prst="roundRect">
            <a:avLst>
              <a:gd fmla="val 16667" name="adj"/>
            </a:avLst>
          </a:prstGeom>
          <a:solidFill>
            <a:srgbClr val="FFE7A5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Client</a:t>
            </a:r>
            <a:endParaRPr b="1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OpenAI API</a:t>
            </a:r>
            <a:endParaRPr sz="11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29" name="Google Shape;129;p21"/>
          <p:cNvSpPr/>
          <p:nvPr/>
        </p:nvSpPr>
        <p:spPr>
          <a:xfrm>
            <a:off x="304800" y="1701800"/>
            <a:ext cx="3174900" cy="609600"/>
          </a:xfrm>
          <a:prstGeom prst="roundRect">
            <a:avLst>
              <a:gd fmla="val 16667" name="adj"/>
            </a:avLst>
          </a:prstGeom>
          <a:solidFill>
            <a:srgbClr val="F7D8D8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vLLM</a:t>
            </a:r>
            <a:endParaRPr b="1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batching, KV paging</a:t>
            </a:r>
            <a:endParaRPr sz="11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30" name="Google Shape;130;p21"/>
          <p:cNvSpPr/>
          <p:nvPr/>
        </p:nvSpPr>
        <p:spPr>
          <a:xfrm>
            <a:off x="304800" y="2413000"/>
            <a:ext cx="3174900" cy="609600"/>
          </a:xfrm>
          <a:prstGeom prst="roundRect">
            <a:avLst>
              <a:gd fmla="val 16667" name="adj"/>
            </a:avLst>
          </a:prstGeom>
          <a:solidFill>
            <a:srgbClr val="C3ECF6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tpu-inference</a:t>
            </a:r>
            <a:endParaRPr b="1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JAX model code</a:t>
            </a:r>
            <a:endParaRPr sz="11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31" name="Google Shape;131;p21"/>
          <p:cNvSpPr/>
          <p:nvPr/>
        </p:nvSpPr>
        <p:spPr>
          <a:xfrm>
            <a:off x="304800" y="3124200"/>
            <a:ext cx="3174900" cy="609600"/>
          </a:xfrm>
          <a:prstGeom prst="roundRect">
            <a:avLst>
              <a:gd fmla="val 16667" name="adj"/>
            </a:avLst>
          </a:prstGeom>
          <a:solidFill>
            <a:srgbClr val="CCF6C5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XLA</a:t>
            </a:r>
            <a:endParaRPr b="1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one program per shape</a:t>
            </a:r>
            <a:endParaRPr sz="11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32" name="Google Shape;132;p21"/>
          <p:cNvSpPr/>
          <p:nvPr/>
        </p:nvSpPr>
        <p:spPr>
          <a:xfrm>
            <a:off x="304800" y="3835400"/>
            <a:ext cx="3174900" cy="609600"/>
          </a:xfrm>
          <a:prstGeom prst="roundRect">
            <a:avLst>
              <a:gd fmla="val 16667" name="adj"/>
            </a:avLst>
          </a:prstGeom>
          <a:solidFill>
            <a:srgbClr val="F9AB00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TPU VM</a:t>
            </a:r>
            <a:endParaRPr b="1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1 to 8 chips per host</a:t>
            </a:r>
            <a:endParaRPr sz="11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33" name="Google Shape;133;p21"/>
          <p:cNvSpPr/>
          <p:nvPr/>
        </p:nvSpPr>
        <p:spPr>
          <a:xfrm>
            <a:off x="3759200" y="990600"/>
            <a:ext cx="5079900" cy="3454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300"/>
              <a:buFont typeface="Google Sans"/>
              <a:buChar char="●"/>
            </a:pPr>
            <a:r>
              <a:rPr lang="en" sz="13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tpu-inference v0.31.0 shipped 2026-10-08; v5e, v6e and v7x recommended, v5p experimental</a:t>
            </a:r>
            <a:endParaRPr sz="13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300"/>
              <a:buFont typeface="Google Sans"/>
              <a:buChar char="●"/>
            </a:pPr>
            <a:r>
              <a:rPr lang="en" sz="13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Gemma 4 E2B, E4B, 26B-A4B and 31B pass its release matrix</a:t>
            </a:r>
            <a:endParaRPr sz="13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300"/>
              <a:buFont typeface="Google Sans"/>
              <a:buChar char="●"/>
            </a:pPr>
            <a:r>
              <a:rPr lang="en" sz="13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XLA compile is 81 to 91% of engine start for E2B on v6e and v5e</a:t>
            </a:r>
            <a:endParaRPr sz="13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300"/>
              <a:buFont typeface="Google Sans"/>
              <a:buChar char="●"/>
            </a:pPr>
            <a:r>
              <a:rPr lang="en" sz="13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Pin an image digest: the nightly tag broke two 4-bit builds on 2026-10-02</a:t>
            </a:r>
            <a:endParaRPr sz="13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34" name="Google Shape;134;p21"/>
          <p:cNvSpPr txBox="1"/>
          <p:nvPr/>
        </p:nvSpPr>
        <p:spPr>
          <a:xfrm>
            <a:off x="304800" y="4775200"/>
            <a:ext cx="8534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rPr>
              <a:t>Sources: github.com/vllm-project/tpu-inference; gemma4-dev tpu-jax-v5e1-2b and tpu-vllm-v5e1-2b reports.</a:t>
            </a:r>
            <a:endParaRPr sz="850">
              <a:solidFill>
                <a:srgbClr val="5F6368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2" title="Dev_Fest_Pisa_2026-0995 - Davide Ginnasio.jpg"/>
          <p:cNvPicPr preferRelativeResize="0"/>
          <p:nvPr/>
        </p:nvPicPr>
        <p:blipFill rotWithShape="1">
          <a:blip r:embed="rId3">
            <a:alphaModFix/>
          </a:blip>
          <a:srcRect b="2542" l="51863" r="791" t="12741"/>
          <a:stretch/>
        </p:blipFill>
        <p:spPr>
          <a:xfrm>
            <a:off x="4983250" y="-325775"/>
            <a:ext cx="4585928" cy="546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2" title="DF25_PresentationTemplate_Title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25" y="0"/>
            <a:ext cx="9144044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2"/>
          <p:cNvSpPr txBox="1"/>
          <p:nvPr/>
        </p:nvSpPr>
        <p:spPr>
          <a:xfrm>
            <a:off x="826989" y="890293"/>
            <a:ext cx="16599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Part 02</a:t>
            </a:r>
            <a:endParaRPr sz="95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2" name="Google Shape;142;p22"/>
          <p:cNvSpPr txBox="1"/>
          <p:nvPr/>
        </p:nvSpPr>
        <p:spPr>
          <a:xfrm>
            <a:off x="412650" y="2089978"/>
            <a:ext cx="4294200" cy="1302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The Chips</a:t>
            </a:r>
            <a:endParaRPr b="1" sz="40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3" name="Google Shape;143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482223">
            <a:off x="2685339" y="2953394"/>
            <a:ext cx="1920835" cy="1574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3"/>
          <p:cNvPicPr preferRelativeResize="0"/>
          <p:nvPr/>
        </p:nvPicPr>
        <p:blipFill rotWithShape="1">
          <a:blip r:embed="rId3">
            <a:alphaModFix/>
          </a:blip>
          <a:srcRect b="0" l="0" r="19485" t="0"/>
          <a:stretch/>
        </p:blipFill>
        <p:spPr>
          <a:xfrm>
            <a:off x="7188567" y="266850"/>
            <a:ext cx="1743734" cy="24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3"/>
          <p:cNvSpPr/>
          <p:nvPr/>
        </p:nvSpPr>
        <p:spPr>
          <a:xfrm>
            <a:off x="304800" y="254000"/>
            <a:ext cx="6291600" cy="53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TPU7x: About 13x v5e's Memory at 10x the Price</a:t>
            </a:r>
            <a:endParaRPr sz="1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aphicFrame>
        <p:nvGraphicFramePr>
          <p:cNvPr id="150" name="Google Shape;150;p23"/>
          <p:cNvGraphicFramePr/>
          <p:nvPr/>
        </p:nvGraphicFramePr>
        <p:xfrm>
          <a:off x="304800" y="96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{2DDDCF97-6103-453E-99EC-66EA745E5C7C}</a:tableStyleId>
              </a:tblPr>
              <a:tblGrid>
                <a:gridCol w="1651000"/>
                <a:gridCol w="1016000"/>
                <a:gridCol w="1397000"/>
                <a:gridCol w="2184400"/>
                <a:gridCol w="1016000"/>
                <a:gridCol w="1270000"/>
              </a:tblGrid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Chip</a:t>
                      </a:r>
                      <a:endParaRPr b="1"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7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HBM</a:t>
                      </a:r>
                      <a:endParaRPr b="1"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7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Peak bf16</a:t>
                      </a:r>
                      <a:endParaRPr b="1"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7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Native low precision</a:t>
                      </a:r>
                      <a:endParaRPr b="1"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7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Max pod</a:t>
                      </a:r>
                      <a:endParaRPr b="1"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7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On-demand</a:t>
                      </a:r>
                      <a:endParaRPr b="1"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7A5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v5e</a:t>
                      </a:r>
                      <a:endParaRPr b="1"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3EC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16 GB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3EC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197 TFLOPs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3EC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int8, 393 TOPs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3EC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256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3EC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$1.20/hr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3ECF6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v6e Trillium</a:t>
                      </a:r>
                      <a:endParaRPr b="1"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32 GB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918 TFLOPs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int8, 1,836 TOPs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256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$2.70/hr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v5p</a:t>
                      </a:r>
                      <a:endParaRPr b="1"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95 GiB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459 TFLOPs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int8; fp8 at bf16 rate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8,960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$4.20/hr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TPU7x Ironwood</a:t>
                      </a:r>
                      <a:endParaRPr b="1"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192 GiB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2,307 TFLOPs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fp8, 4,614 TFLOPs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9,216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$12.00/hr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1" name="Google Shape;151;p23"/>
          <p:cNvSpPr/>
          <p:nvPr/>
        </p:nvSpPr>
        <p:spPr>
          <a:xfrm>
            <a:off x="304800" y="2971800"/>
            <a:ext cx="8534400" cy="1016100"/>
          </a:xfrm>
          <a:prstGeom prst="roundRect">
            <a:avLst>
              <a:gd fmla="val 16667" name="adj"/>
            </a:avLst>
          </a:prstGeom>
          <a:solidFill>
            <a:srgbClr val="FFE7A5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300"/>
              <a:buFont typeface="Google Sans"/>
              <a:buChar char="●"/>
            </a:pPr>
            <a:r>
              <a:rPr lang="en" sz="13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Single-host shapes used here: v5litepod-1 and -4, v6e-1, -4 and -8</a:t>
            </a:r>
            <a:endParaRPr sz="13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300"/>
              <a:buFont typeface="Google Sans"/>
              <a:buChar char="●"/>
            </a:pPr>
            <a:r>
              <a:rPr lang="en" sz="13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v6e on-demand varies by region: $2.70 us-east, $2.97 europe-west4</a:t>
            </a:r>
            <a:endParaRPr sz="13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2" name="Google Shape;152;p23"/>
          <p:cNvSpPr txBox="1"/>
          <p:nvPr/>
        </p:nvSpPr>
        <p:spPr>
          <a:xfrm>
            <a:off x="304800" y="4775200"/>
            <a:ext cx="8534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rPr>
              <a:t>Sources: docs.cloud.google.com/tpu/docs and cloud.google.com/tpu/pricing, read 2026-10-12; regional rates from the Billing Catalog. Blue row: today's demo chip.</a:t>
            </a:r>
            <a:endParaRPr sz="850">
              <a:solidFill>
                <a:srgbClr val="5F6368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24"/>
          <p:cNvPicPr preferRelativeResize="0"/>
          <p:nvPr/>
        </p:nvPicPr>
        <p:blipFill rotWithShape="1">
          <a:blip r:embed="rId3">
            <a:alphaModFix/>
          </a:blip>
          <a:srcRect b="0" l="0" r="19485" t="0"/>
          <a:stretch/>
        </p:blipFill>
        <p:spPr>
          <a:xfrm>
            <a:off x="7188567" y="266850"/>
            <a:ext cx="1743734" cy="24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4"/>
          <p:cNvSpPr/>
          <p:nvPr/>
        </p:nvSpPr>
        <p:spPr>
          <a:xfrm>
            <a:off x="304800" y="254000"/>
            <a:ext cx="5788800" cy="53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One-Stream Decode Follows Memory Bandwidth</a:t>
            </a:r>
            <a:endParaRPr sz="1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aphicFrame>
        <p:nvGraphicFramePr>
          <p:cNvPr id="159" name="Google Shape;159;p24"/>
          <p:cNvGraphicFramePr/>
          <p:nvPr/>
        </p:nvGraphicFramePr>
        <p:xfrm>
          <a:off x="304800" y="96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{2DDDCF97-6103-453E-99EC-66EA745E5C7C}</a:tableStyleId>
              </a:tblPr>
              <a:tblGrid>
                <a:gridCol w="1651000"/>
                <a:gridCol w="1270000"/>
                <a:gridCol w="1524000"/>
                <a:gridCol w="2311400"/>
                <a:gridCol w="1778000"/>
              </a:tblGrid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Chip</a:t>
                      </a:r>
                      <a:endParaRPr b="1"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7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Memory</a:t>
                      </a:r>
                      <a:endParaRPr b="1"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7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Bandwidth</a:t>
                      </a:r>
                      <a:endParaRPr b="1"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7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E2B bf16 tok/s, 1 stream</a:t>
                      </a:r>
                      <a:endParaRPr b="1"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7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tok/s per TB/s</a:t>
                      </a:r>
                      <a:endParaRPr b="1"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7A5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TPU v5e</a:t>
                      </a:r>
                      <a:endParaRPr b="1"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3EC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16 GB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3EC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859 GB/s¹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3EC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120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3EC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140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3ECF6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TPU v6e</a:t>
                      </a:r>
                      <a:endParaRPr b="1"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32 GB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1,638 GB/s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199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121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TPU v5p</a:t>
                      </a:r>
                      <a:endParaRPr b="1"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95 GiB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2,765 GB/s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not measured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—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TPU7x</a:t>
                      </a:r>
                      <a:endParaRPr b="1"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192 GiB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7,380 GB/s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not measured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—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NVIDIA L4</a:t>
                      </a:r>
                      <a:endParaRPr b="1"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24 GB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300 GB/s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46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153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0" name="Google Shape;160;p24"/>
          <p:cNvSpPr/>
          <p:nvPr/>
        </p:nvSpPr>
        <p:spPr>
          <a:xfrm>
            <a:off x="304800" y="3251200"/>
            <a:ext cx="8534400" cy="888900"/>
          </a:xfrm>
          <a:prstGeom prst="roundRect">
            <a:avLst>
              <a:gd fmla="val 16667" name="adj"/>
            </a:avLst>
          </a:prstGeom>
          <a:solidFill>
            <a:srgbClr val="CCF6C5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300"/>
              <a:buFont typeface="Google Sans"/>
              <a:buChar char="●"/>
            </a:pPr>
            <a:r>
              <a:rPr lang="en" sz="13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Each token reads every weight once, so bandwidth sets the ceiling for one request</a:t>
            </a:r>
            <a:endParaRPr sz="13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300"/>
              <a:buFont typeface="Google Sans"/>
              <a:buChar char="●"/>
            </a:pPr>
            <a:r>
              <a:rPr lang="en" sz="13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The three measured chips land at 121 to 153 tok/s per TB/s of bandwidth</a:t>
            </a:r>
            <a:endParaRPr sz="13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61" name="Google Shape;161;p24"/>
          <p:cNvSpPr txBox="1"/>
          <p:nvPr/>
        </p:nvSpPr>
        <p:spPr>
          <a:xfrm>
            <a:off x="304800" y="4775200"/>
            <a:ext cx="8534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rPr>
              <a:t>¹ Google quotes v5e as 800 GiBps. Different vLLM builds per platform. Sources: gemma4-dev HARDWARE.md, MI300X dollar-hour article; Google TPU docs.</a:t>
            </a:r>
            <a:endParaRPr sz="850">
              <a:solidFill>
                <a:srgbClr val="5F6368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5"/>
          <p:cNvPicPr preferRelativeResize="0"/>
          <p:nvPr/>
        </p:nvPicPr>
        <p:blipFill rotWithShape="1">
          <a:blip r:embed="rId3">
            <a:alphaModFix/>
          </a:blip>
          <a:srcRect b="0" l="0" r="19485" t="0"/>
          <a:stretch/>
        </p:blipFill>
        <p:spPr>
          <a:xfrm>
            <a:off x="7188567" y="266850"/>
            <a:ext cx="1743734" cy="24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5"/>
          <p:cNvSpPr/>
          <p:nvPr/>
        </p:nvSpPr>
        <p:spPr>
          <a:xfrm>
            <a:off x="304800" y="254000"/>
            <a:ext cx="6654900" cy="53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Only int8, and fp8 on TPU7x, Buy Compute</a:t>
            </a:r>
            <a:endParaRPr sz="22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aphicFrame>
        <p:nvGraphicFramePr>
          <p:cNvPr id="168" name="Google Shape;168;p25"/>
          <p:cNvGraphicFramePr/>
          <p:nvPr/>
        </p:nvGraphicFramePr>
        <p:xfrm>
          <a:off x="304800" y="96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{2DDDCF97-6103-453E-99EC-66EA745E5C7C}</a:tableStyleId>
              </a:tblPr>
              <a:tblGrid>
                <a:gridCol w="1524000"/>
                <a:gridCol w="1752600"/>
                <a:gridCol w="1752600"/>
                <a:gridCol w="1752600"/>
                <a:gridCol w="1752600"/>
              </a:tblGrid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Format</a:t>
                      </a:r>
                      <a:endParaRPr b="1"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7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v5e</a:t>
                      </a:r>
                      <a:endParaRPr b="1"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7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v6e</a:t>
                      </a:r>
                      <a:endParaRPr b="1"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7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v5p</a:t>
                      </a:r>
                      <a:endParaRPr b="1"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7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TPU7x</a:t>
                      </a:r>
                      <a:endParaRPr b="1"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7A5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bf16</a:t>
                      </a:r>
                      <a:endParaRPr b="1"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native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native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native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native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int8</a:t>
                      </a:r>
                      <a:endParaRPr b="1"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2x bf16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2x bf16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native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native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fp8</a:t>
                      </a:r>
                      <a:endParaRPr b="1"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storage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storage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bf16 rate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2x bf16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int4</a:t>
                      </a:r>
                      <a:endParaRPr b="1"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storage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storage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storage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storage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9" name="Google Shape;169;p25"/>
          <p:cNvSpPr/>
          <p:nvPr/>
        </p:nvSpPr>
        <p:spPr>
          <a:xfrm>
            <a:off x="304800" y="2921000"/>
            <a:ext cx="8534400" cy="1269900"/>
          </a:xfrm>
          <a:prstGeom prst="roundRect">
            <a:avLst>
              <a:gd fmla="val 16667" name="adj"/>
            </a:avLst>
          </a:prstGeom>
          <a:solidFill>
            <a:srgbClr val="F7D8D8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300"/>
              <a:buFont typeface="Google Sans"/>
              <a:buChar char="●"/>
            </a:pPr>
            <a:r>
              <a:rPr lang="en" sz="13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2x bf16: a native matmul path at double the bf16 peak</a:t>
            </a:r>
            <a:endParaRPr sz="13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300"/>
              <a:buFont typeface="Google Sans"/>
              <a:buChar char="●"/>
            </a:pPr>
            <a:r>
              <a:rPr lang="en" sz="13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storage: saves HBM and bandwidth, then widens to bf16 before every matmul</a:t>
            </a:r>
            <a:endParaRPr sz="13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300"/>
              <a:buFont typeface="Google Sans"/>
              <a:buChar char="●"/>
            </a:pPr>
            <a:r>
              <a:rPr lang="en" sz="13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fp8 KV cache on v6e logs fp8 and allocates bf16</a:t>
            </a:r>
            <a:endParaRPr sz="13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0" name="Google Shape;170;p25"/>
          <p:cNvSpPr txBox="1"/>
          <p:nvPr/>
        </p:nvSpPr>
        <p:spPr>
          <a:xfrm>
            <a:off x="304800" y="4775200"/>
            <a:ext cx="8534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rPr>
              <a:t>Sources: gemma4-dev HARDWARE.md, QUANTIZATION.md; Google TPU7x docs (not measured here).</a:t>
            </a:r>
            <a:endParaRPr sz="850">
              <a:solidFill>
                <a:srgbClr val="5F6368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26"/>
          <p:cNvPicPr preferRelativeResize="0"/>
          <p:nvPr/>
        </p:nvPicPr>
        <p:blipFill rotWithShape="1">
          <a:blip r:embed="rId3">
            <a:alphaModFix/>
          </a:blip>
          <a:srcRect b="0" l="0" r="19485" t="0"/>
          <a:stretch/>
        </p:blipFill>
        <p:spPr>
          <a:xfrm>
            <a:off x="7188567" y="266850"/>
            <a:ext cx="1743734" cy="24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6"/>
          <p:cNvSpPr/>
          <p:nvPr/>
        </p:nvSpPr>
        <p:spPr>
          <a:xfrm>
            <a:off x="304800" y="254000"/>
            <a:ext cx="6291600" cy="53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“v5e-1” Works in Prose, Never in a gcloud Flag</a:t>
            </a:r>
            <a:endParaRPr sz="1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aphicFrame>
        <p:nvGraphicFramePr>
          <p:cNvPr id="177" name="Google Shape;177;p26"/>
          <p:cNvGraphicFramePr/>
          <p:nvPr/>
        </p:nvGraphicFramePr>
        <p:xfrm>
          <a:off x="304800" y="96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{2DDDCF97-6103-453E-99EC-66EA745E5C7C}</a:tableStyleId>
              </a:tblPr>
              <a:tblGrid>
                <a:gridCol w="1778000"/>
                <a:gridCol w="2921000"/>
                <a:gridCol w="3835400"/>
              </a:tblGrid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What you mean</a:t>
                      </a:r>
                      <a:endParaRPr b="1"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7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What gcloud wants</a:t>
                      </a:r>
                      <a:endParaRPr b="1"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7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Where it goes</a:t>
                      </a:r>
                      <a:endParaRPr b="1"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7A5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v5e, one chip</a:t>
                      </a:r>
                      <a:endParaRPr b="1"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v5litepod-1</a:t>
                      </a:r>
                      <a:endParaRPr sz="1200">
                        <a:solidFill>
                          <a:srgbClr val="1E1E1E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--accelerator-type (Cloud TPU API)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v5e runtime</a:t>
                      </a:r>
                      <a:endParaRPr b="1"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v2-alpha-tpuv5-lite</a:t>
                      </a:r>
                      <a:endParaRPr sz="1200">
                        <a:solidFill>
                          <a:srgbClr val="1E1E1E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--runtime-version (Cloud TPU API)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v5e machine</a:t>
                      </a:r>
                      <a:endParaRPr b="1"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ct5lp-hightpu-1t</a:t>
                      </a:r>
                      <a:endParaRPr sz="1200">
                        <a:solidFill>
                          <a:srgbClr val="1E1E1E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listed in the Compute Engine catalog; create is refused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v6e, one chip</a:t>
                      </a:r>
                      <a:endParaRPr b="1"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v6e-1  /  ct6e-standard-1t</a:t>
                      </a:r>
                      <a:endParaRPr sz="1200">
                        <a:solidFill>
                          <a:srgbClr val="1E1E1E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Cloud TPU API  /  Compute Engine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v6e runtime</a:t>
                      </a:r>
                      <a:endParaRPr b="1"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v2-alpha-tpuv6e</a:t>
                      </a:r>
                      <a:endParaRPr sz="1200">
                        <a:solidFill>
                          <a:srgbClr val="1E1E1E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--runtime-version (Cloud TPU API)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27" title="Screenshot 2026-05-15 at 10.49.56 PM - Ansh Bhatnagar (2).png"/>
          <p:cNvPicPr preferRelativeResize="0"/>
          <p:nvPr/>
        </p:nvPicPr>
        <p:blipFill rotWithShape="1">
          <a:blip r:embed="rId3">
            <a:alphaModFix/>
          </a:blip>
          <a:srcRect b="2600" l="36338" r="12798" t="-2600"/>
          <a:stretch/>
        </p:blipFill>
        <p:spPr>
          <a:xfrm>
            <a:off x="4983250" y="-256625"/>
            <a:ext cx="4160749" cy="5400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7" title="DF25_PresentationTemplate_Title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25" y="0"/>
            <a:ext cx="9144044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7"/>
          <p:cNvSpPr txBox="1"/>
          <p:nvPr/>
        </p:nvSpPr>
        <p:spPr>
          <a:xfrm>
            <a:off x="826989" y="890293"/>
            <a:ext cx="16599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Part 03</a:t>
            </a:r>
            <a:endParaRPr sz="95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85" name="Google Shape;185;p27"/>
          <p:cNvSpPr txBox="1"/>
          <p:nvPr/>
        </p:nvSpPr>
        <p:spPr>
          <a:xfrm>
            <a:off x="372375" y="2578922"/>
            <a:ext cx="4294200" cy="7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Getting</a:t>
            </a:r>
            <a:endParaRPr b="1" sz="40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a Chip</a:t>
            </a:r>
            <a:endParaRPr b="1" sz="40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86" name="Google Shape;186;p27" title="folder@3x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592629">
            <a:off x="2470325" y="2671750"/>
            <a:ext cx="2138224" cy="2138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28"/>
          <p:cNvPicPr preferRelativeResize="0"/>
          <p:nvPr/>
        </p:nvPicPr>
        <p:blipFill rotWithShape="1">
          <a:blip r:embed="rId3">
            <a:alphaModFix/>
          </a:blip>
          <a:srcRect b="0" l="0" r="19485" t="0"/>
          <a:stretch/>
        </p:blipFill>
        <p:spPr>
          <a:xfrm>
            <a:off x="7188567" y="266850"/>
            <a:ext cx="1743734" cy="24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8"/>
          <p:cNvSpPr/>
          <p:nvPr/>
        </p:nvSpPr>
        <p:spPr>
          <a:xfrm>
            <a:off x="304800" y="254000"/>
            <a:ext cx="3274200" cy="53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Two Control Planes</a:t>
            </a:r>
            <a:endParaRPr sz="22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93" name="Google Shape;193;p28"/>
          <p:cNvSpPr/>
          <p:nvPr/>
        </p:nvSpPr>
        <p:spPr>
          <a:xfrm>
            <a:off x="304800" y="990600"/>
            <a:ext cx="4165500" cy="2412900"/>
          </a:xfrm>
          <a:prstGeom prst="roundRect">
            <a:avLst>
              <a:gd fmla="val 16667" name="adj"/>
            </a:avLst>
          </a:prstGeom>
          <a:solidFill>
            <a:srgbClr val="FFE7A5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Cloud TPU API</a:t>
            </a:r>
            <a:endParaRPr b="1" sz="1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200"/>
              <a:buFont typeface="Google Sans"/>
              <a:buChar char="●"/>
            </a:pPr>
            <a:r>
              <a:rPr lang="en" sz="12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Queued resources produce a node named &lt;id&gt;-node</a:t>
            </a:r>
            <a:endParaRPr sz="12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200"/>
              <a:buFont typeface="Google Sans"/>
              <a:buChar char="●"/>
            </a:pPr>
            <a:r>
              <a:rPr lang="en" sz="12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gcloud alpha compute tpus queued-resources create</a:t>
            </a:r>
            <a:endParaRPr sz="12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200"/>
              <a:buFont typeface="Google Sans"/>
              <a:buChar char="●"/>
            </a:pPr>
            <a:r>
              <a:rPr lang="en" sz="12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Bug fixes and security updates only</a:t>
            </a:r>
            <a:endParaRPr sz="12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200"/>
              <a:buFont typeface="Google Sans"/>
              <a:buChar char="●"/>
            </a:pPr>
            <a:r>
              <a:rPr lang="en" sz="12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The only path for v5e outside GKE</a:t>
            </a:r>
            <a:endParaRPr sz="12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94" name="Google Shape;194;p28"/>
          <p:cNvSpPr/>
          <p:nvPr/>
        </p:nvSpPr>
        <p:spPr>
          <a:xfrm>
            <a:off x="4673600" y="990600"/>
            <a:ext cx="4165500" cy="2412900"/>
          </a:xfrm>
          <a:prstGeom prst="roundRect">
            <a:avLst>
              <a:gd fmla="val 16667" name="adj"/>
            </a:avLst>
          </a:prstGeom>
          <a:solidFill>
            <a:srgbClr val="C3ECF6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Compute Engine</a:t>
            </a:r>
            <a:endParaRPr b="1" sz="1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200"/>
              <a:buFont typeface="Google Sans"/>
              <a:buChar char="●"/>
            </a:pPr>
            <a:r>
              <a:rPr lang="en" sz="12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The instance is the node: one object to manage</a:t>
            </a:r>
            <a:endParaRPr sz="12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200"/>
              <a:buFont typeface="Google Sans"/>
              <a:buChar char="●"/>
            </a:pPr>
            <a:r>
              <a:rPr lang="en" sz="12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gcloud compute instances create --machine-type=ct6e-standard-1t</a:t>
            </a:r>
            <a:endParaRPr sz="12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200"/>
              <a:buFont typeface="Google Sans"/>
              <a:buChar char="●"/>
            </a:pPr>
            <a:r>
              <a:rPr lang="en" sz="12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Supports TPU7x, v6e and v5p</a:t>
            </a:r>
            <a:endParaRPr sz="12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200"/>
              <a:buFont typeface="Google Sans"/>
              <a:buChar char="●"/>
            </a:pPr>
            <a:r>
              <a:rPr lang="en" sz="12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TPU7x (Ironwood) onward: Compute Engine or GKE only</a:t>
            </a:r>
            <a:endParaRPr sz="12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95" name="Google Shape;195;p28"/>
          <p:cNvSpPr/>
          <p:nvPr/>
        </p:nvSpPr>
        <p:spPr>
          <a:xfrm>
            <a:off x="304800" y="3606800"/>
            <a:ext cx="8534400" cy="812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“The Cloud TPU API is no longer under active development … New hardware generations, starting with TPU7x (Ironwood), are supported only through Compute Engine or Google Kubernetes Engine (GKE).”</a:t>
            </a:r>
            <a:endParaRPr sz="12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96" name="Google Shape;196;p28"/>
          <p:cNvSpPr txBox="1"/>
          <p:nvPr/>
        </p:nvSpPr>
        <p:spPr>
          <a:xfrm>
            <a:off x="304800" y="4775200"/>
            <a:ext cx="8534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rPr>
              <a:t>Quote: Cloud TPU resources in Compute Engine, Google Cloud docs.</a:t>
            </a:r>
            <a:endParaRPr sz="850">
              <a:solidFill>
                <a:srgbClr val="5F6368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9"/>
          <p:cNvPicPr preferRelativeResize="0"/>
          <p:nvPr/>
        </p:nvPicPr>
        <p:blipFill rotWithShape="1">
          <a:blip r:embed="rId3">
            <a:alphaModFix/>
          </a:blip>
          <a:srcRect b="0" l="0" r="19485" t="0"/>
          <a:stretch/>
        </p:blipFill>
        <p:spPr>
          <a:xfrm>
            <a:off x="7188567" y="266850"/>
            <a:ext cx="1743734" cy="2421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9"/>
          <p:cNvSpPr/>
          <p:nvPr/>
        </p:nvSpPr>
        <p:spPr>
          <a:xfrm>
            <a:off x="304800" y="254000"/>
            <a:ext cx="6501000" cy="53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Moving a v6e-1 Across: the Flag Mapping</a:t>
            </a:r>
            <a:endParaRPr sz="22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aphicFrame>
        <p:nvGraphicFramePr>
          <p:cNvPr id="203" name="Google Shape;203;p29"/>
          <p:cNvGraphicFramePr/>
          <p:nvPr/>
        </p:nvGraphicFramePr>
        <p:xfrm>
          <a:off x="304800" y="96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{2DDDCF97-6103-453E-99EC-66EA745E5C7C}</a:tableStyleId>
              </a:tblPr>
              <a:tblGrid>
                <a:gridCol w="4267200"/>
                <a:gridCol w="4267200"/>
              </a:tblGrid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Cloud TPU API</a:t>
                      </a:r>
                      <a:endParaRPr b="1" sz="105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7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Compute Engine</a:t>
                      </a:r>
                      <a:endParaRPr b="1" sz="105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7A5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E1E1E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--accelerator-type=v6e-1</a:t>
                      </a:r>
                      <a:endParaRPr sz="1050">
                        <a:solidFill>
                          <a:srgbClr val="1E1E1E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E1E1E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--machine-type=ct6e-standard-1t</a:t>
                      </a:r>
                      <a:endParaRPr sz="1050">
                        <a:solidFill>
                          <a:srgbClr val="1E1E1E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E1E1E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--runtime-version=v2-alpha-tpuv6e</a:t>
                      </a:r>
                      <a:endParaRPr sz="1050">
                        <a:solidFill>
                          <a:srgbClr val="1E1E1E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E1E1E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--image-family=ubuntu-accel-… + --image-project</a:t>
                      </a:r>
                      <a:endParaRPr sz="1050">
                        <a:solidFill>
                          <a:srgbClr val="1E1E1E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E1E1E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--valid-until-duration</a:t>
                      </a:r>
                      <a:endParaRPr sz="1050">
                        <a:solidFill>
                          <a:srgbClr val="1E1E1E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E1E1E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--request-valid-for-duration</a:t>
                      </a:r>
                      <a:endParaRPr sz="1050">
                        <a:solidFill>
                          <a:srgbClr val="1E1E1E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E1E1E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--provisioning-model=flex-start</a:t>
                      </a:r>
                      <a:endParaRPr sz="1050">
                        <a:solidFill>
                          <a:srgbClr val="1E1E1E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E1E1E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--provisioning-model=FLEX_START</a:t>
                      </a:r>
                      <a:endParaRPr sz="1050">
                        <a:solidFill>
                          <a:srgbClr val="1E1E1E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E1E1E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queued resource produces &lt;id&gt;-node</a:t>
                      </a:r>
                      <a:endParaRPr sz="1050">
                        <a:solidFill>
                          <a:srgbClr val="1E1E1E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E1E1E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the instance is the node</a:t>
                      </a:r>
                      <a:endParaRPr sz="1050">
                        <a:solidFill>
                          <a:srgbClr val="1E1E1E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E1E1E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gcloud compute tpus tpu-vm list</a:t>
                      </a:r>
                      <a:endParaRPr sz="1050">
                        <a:solidFill>
                          <a:srgbClr val="1E1E1E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E1E1E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gcloud compute instances list</a:t>
                      </a:r>
                      <a:endParaRPr sz="1050">
                        <a:solidFill>
                          <a:srgbClr val="1E1E1E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E1E1E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gcloud compute tpus tpu-vm ssh</a:t>
                      </a:r>
                      <a:endParaRPr sz="1050">
                        <a:solidFill>
                          <a:srgbClr val="1E1E1E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E1E1E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gcloud compute ssh</a:t>
                      </a:r>
                      <a:endParaRPr sz="1050">
                        <a:solidFill>
                          <a:srgbClr val="1E1E1E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4" name="Google Shape;204;p29"/>
          <p:cNvSpPr/>
          <p:nvPr/>
        </p:nvSpPr>
        <p:spPr>
          <a:xfrm>
            <a:off x="304800" y="3962400"/>
            <a:ext cx="8534400" cy="584100"/>
          </a:xfrm>
          <a:prstGeom prst="roundRect">
            <a:avLst>
              <a:gd fmla="val 16667" name="adj"/>
            </a:avLst>
          </a:prstGeom>
          <a:solidFill>
            <a:srgbClr val="CCF6C5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Same chip, same checkpoint, same serving flags: the KV cache came out at 1,151,744 tokens on both control planes.</a:t>
            </a:r>
            <a:endParaRPr sz="12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05" name="Google Shape;205;p29"/>
          <p:cNvSpPr txBox="1"/>
          <p:nvPr/>
        </p:nvSpPr>
        <p:spPr>
          <a:xfrm>
            <a:off x="304800" y="4724400"/>
            <a:ext cx="8534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rPr>
              <a:t>Source: The unofficial TPU migration guide, dev.to/gde, 2026-08-11.</a:t>
            </a:r>
            <a:endParaRPr sz="850">
              <a:solidFill>
                <a:srgbClr val="5F6368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30"/>
          <p:cNvPicPr preferRelativeResize="0"/>
          <p:nvPr/>
        </p:nvPicPr>
        <p:blipFill rotWithShape="1">
          <a:blip r:embed="rId3">
            <a:alphaModFix/>
          </a:blip>
          <a:srcRect b="0" l="0" r="19485" t="0"/>
          <a:stretch/>
        </p:blipFill>
        <p:spPr>
          <a:xfrm>
            <a:off x="7188567" y="266850"/>
            <a:ext cx="1743734" cy="24215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30"/>
          <p:cNvSpPr/>
          <p:nvPr/>
        </p:nvSpPr>
        <p:spPr>
          <a:xfrm>
            <a:off x="304800" y="254000"/>
            <a:ext cx="6193800" cy="53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v5e Has No Compute Engine Create Path</a:t>
            </a:r>
            <a:endParaRPr sz="22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12" name="Google Shape;212;p30"/>
          <p:cNvSpPr/>
          <p:nvPr/>
        </p:nvSpPr>
        <p:spPr>
          <a:xfrm>
            <a:off x="304800" y="990600"/>
            <a:ext cx="8534400" cy="1168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E1E1E"/>
                </a:solidFill>
                <a:latin typeface="Roboto Mono"/>
                <a:ea typeface="Roboto Mono"/>
                <a:cs typeface="Roboto Mono"/>
                <a:sym typeface="Roboto Mono"/>
              </a:rPr>
              <a:t>$ gcloud compute machine-types list --filter="name~ct5lp"</a:t>
            </a:r>
            <a:endParaRPr sz="1050">
              <a:solidFill>
                <a:srgbClr val="1E1E1E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E1E1E"/>
                </a:solidFill>
                <a:latin typeface="Roboto Mono"/>
                <a:ea typeface="Roboto Mono"/>
                <a:cs typeface="Roboto Mono"/>
                <a:sym typeface="Roboto Mono"/>
              </a:rPr>
              <a:t>ct5lp-hightpu-1t  ct5lp-hightpu-4t  ct5lp-hightpu-8t   (26 zones)</a:t>
            </a:r>
            <a:endParaRPr sz="1050">
              <a:solidFill>
                <a:srgbClr val="1E1E1E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1E1E1E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E1E1E"/>
                </a:solidFill>
                <a:latin typeface="Roboto Mono"/>
                <a:ea typeface="Roboto Mono"/>
                <a:cs typeface="Roboto Mono"/>
                <a:sym typeface="Roboto Mono"/>
              </a:rPr>
              <a:t>$ gcloud compute instances create … --machine-type=ct5lp-hightpu-1t</a:t>
            </a:r>
            <a:endParaRPr sz="1050">
              <a:solidFill>
                <a:srgbClr val="1E1E1E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E1E1E"/>
                </a:solidFill>
                <a:latin typeface="Roboto Mono"/>
                <a:ea typeface="Roboto Mono"/>
                <a:cs typeface="Roboto Mono"/>
                <a:sym typeface="Roboto Mono"/>
              </a:rPr>
              <a:t>ERROR: This user agent is not allowed to use the machine type [ct5lp-hightpu-1t].</a:t>
            </a:r>
            <a:endParaRPr sz="1050">
              <a:solidFill>
                <a:srgbClr val="1E1E1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13" name="Google Shape;213;p30"/>
          <p:cNvSpPr/>
          <p:nvPr/>
        </p:nvSpPr>
        <p:spPr>
          <a:xfrm>
            <a:off x="304800" y="2362200"/>
            <a:ext cx="8534400" cy="2133600"/>
          </a:xfrm>
          <a:prstGeom prst="roundRect">
            <a:avLst>
              <a:gd fmla="val 16667" name="adj"/>
            </a:avLst>
          </a:prstGeom>
          <a:solidFill>
            <a:srgbClr val="FFE7A5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300"/>
              <a:buFont typeface="Google Sans"/>
              <a:buChar char="●"/>
            </a:pPr>
            <a:r>
              <a:rPr lang="en" sz="13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The catalog lists the machine type; GKE uses those names for its v5e node pools</a:t>
            </a:r>
            <a:endParaRPr sz="13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300"/>
              <a:buFont typeface="Google Sans"/>
              <a:buChar char="●"/>
            </a:pPr>
            <a:r>
              <a:rPr lang="en" sz="13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Google's TPU machines page names TPU7x, v6e and v5p for Compute Engine, and no v5e</a:t>
            </a:r>
            <a:endParaRPr sz="13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300"/>
              <a:buFont typeface="Google Sans"/>
              <a:buChar char="●"/>
            </a:pPr>
            <a:r>
              <a:rPr lang="en" sz="13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The v5e page: supported using Google Kubernetes Engine and the Cloud TPU API</a:t>
            </a:r>
            <a:endParaRPr sz="13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300"/>
              <a:buFont typeface="Google Sans"/>
              <a:buChar char="●"/>
            </a:pPr>
            <a:r>
              <a:rPr lang="en" sz="13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To test any chip, try a create in a zone where your quota is zero: a refusal costs nothing</a:t>
            </a:r>
            <a:endParaRPr sz="13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300"/>
              <a:buFont typeface="Google Sans"/>
              <a:buChar char="●"/>
            </a:pPr>
            <a:r>
              <a:rPr lang="en" sz="13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Today's demo runs on a Cloud TPU API queued resource</a:t>
            </a:r>
            <a:endParaRPr sz="13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31"/>
          <p:cNvPicPr preferRelativeResize="0"/>
          <p:nvPr/>
        </p:nvPicPr>
        <p:blipFill rotWithShape="1">
          <a:blip r:embed="rId3">
            <a:alphaModFix/>
          </a:blip>
          <a:srcRect b="0" l="0" r="19485" t="0"/>
          <a:stretch/>
        </p:blipFill>
        <p:spPr>
          <a:xfrm>
            <a:off x="7188567" y="266850"/>
            <a:ext cx="1743734" cy="24215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31"/>
          <p:cNvSpPr/>
          <p:nvPr/>
        </p:nvSpPr>
        <p:spPr>
          <a:xfrm>
            <a:off x="304800" y="254000"/>
            <a:ext cx="4657200" cy="53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Four Ways to Ask for a Chip</a:t>
            </a:r>
            <a:endParaRPr sz="22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aphicFrame>
        <p:nvGraphicFramePr>
          <p:cNvPr id="220" name="Google Shape;220;p31"/>
          <p:cNvGraphicFramePr/>
          <p:nvPr/>
        </p:nvGraphicFramePr>
        <p:xfrm>
          <a:off x="304800" y="96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{2DDDCF97-6103-453E-99EC-66EA745E5C7C}</a:tableStyleId>
              </a:tblPr>
              <a:tblGrid>
                <a:gridCol w="1701800"/>
                <a:gridCol w="1397000"/>
                <a:gridCol w="1117600"/>
                <a:gridCol w="1524000"/>
                <a:gridCol w="1524000"/>
                <a:gridCol w="1270000"/>
              </a:tblGrid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Model</a:t>
                      </a:r>
                      <a:endParaRPr b="1" sz="10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7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Capacity</a:t>
                      </a:r>
                      <a:endParaRPr b="1" sz="10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7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Max run</a:t>
                      </a:r>
                      <a:endParaRPr b="1" sz="10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7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Ends</a:t>
                      </a:r>
                      <a:endParaRPr b="1" sz="10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7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Quota spent</a:t>
                      </a:r>
                      <a:endParaRPr b="1" sz="10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7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v6e, europe-west4</a:t>
                      </a:r>
                      <a:endParaRPr b="1" sz="10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7A5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E1E1E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STANDARD</a:t>
                      </a:r>
                      <a:endParaRPr sz="1000">
                        <a:solidFill>
                          <a:srgbClr val="1E1E1E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now, if available</a:t>
                      </a:r>
                      <a:endParaRPr sz="10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unlimited</a:t>
                      </a:r>
                      <a:endParaRPr sz="10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when you delete it</a:t>
                      </a:r>
                      <a:endParaRPr sz="10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standard</a:t>
                      </a:r>
                      <a:endParaRPr sz="10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$2.97 / chip-hr</a:t>
                      </a:r>
                      <a:endParaRPr sz="10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E1E1E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SPOT</a:t>
                      </a:r>
                      <a:endParaRPr sz="1000">
                        <a:solidFill>
                          <a:srgbClr val="1E1E1E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now, if available</a:t>
                      </a:r>
                      <a:endParaRPr sz="10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unlimited</a:t>
                      </a:r>
                      <a:endParaRPr sz="10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preempted at any time</a:t>
                      </a:r>
                      <a:endParaRPr sz="10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preemptible → standard</a:t>
                      </a:r>
                      <a:endParaRPr sz="10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$1.78 / chip-hr</a:t>
                      </a:r>
                      <a:endParaRPr sz="10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E1E1E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FLEX_START</a:t>
                      </a:r>
                      <a:endParaRPr sz="1000">
                        <a:solidFill>
                          <a:srgbClr val="1E1E1E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3EC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queues up to 2h</a:t>
                      </a:r>
                      <a:endParaRPr sz="10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3EC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10 min – 7 days</a:t>
                      </a:r>
                      <a:endParaRPr sz="10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3EC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at --max-run-duration</a:t>
                      </a:r>
                      <a:endParaRPr sz="10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3EC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preemptible → standard</a:t>
                      </a:r>
                      <a:endParaRPr sz="10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3EC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$1.35 / chip-hr</a:t>
                      </a:r>
                      <a:endParaRPr sz="10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3ECF6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E1E1E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RESERVATION_BOUND</a:t>
                      </a:r>
                      <a:endParaRPr sz="1000">
                        <a:solidFill>
                          <a:srgbClr val="1E1E1E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reserved ahead, if approved</a:t>
                      </a:r>
                      <a:endParaRPr sz="10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up to 90 days</a:t>
                      </a:r>
                      <a:endParaRPr sz="10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when the reservation ends</a:t>
                      </a:r>
                      <a:endParaRPr sz="10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with the reservation</a:t>
                      </a:r>
                      <a:endParaRPr sz="10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no list rate</a:t>
                      </a:r>
                      <a:endParaRPr sz="10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1" name="Google Shape;221;p31"/>
          <p:cNvSpPr/>
          <p:nvPr/>
        </p:nvSpPr>
        <p:spPr>
          <a:xfrm>
            <a:off x="304800" y="3403600"/>
            <a:ext cx="8534400" cy="1168500"/>
          </a:xfrm>
          <a:prstGeom prst="roundRect">
            <a:avLst>
              <a:gd fmla="val 16667" name="adj"/>
            </a:avLst>
          </a:prstGeom>
          <a:solidFill>
            <a:srgbClr val="CCF6C5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200"/>
              <a:buFont typeface="Google Sans"/>
              <a:buChar char="●"/>
            </a:pPr>
            <a:r>
              <a:rPr lang="en" sz="12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Flex-start is the cheapest of the three priced models on v6e, under half of on-demand</a:t>
            </a:r>
            <a:endParaRPr sz="12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200"/>
              <a:buFont typeface="Google Sans"/>
              <a:buChar char="●"/>
            </a:pPr>
            <a:r>
              <a:rPr lang="en" sz="12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On v5e in us-west4: flex-start $0.60, spot $0.607 per chip-hr</a:t>
            </a:r>
            <a:endParaRPr sz="12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200"/>
              <a:buFont typeface="Google Sans"/>
              <a:buChar char="●"/>
            </a:pPr>
            <a:r>
              <a:rPr lang="en" sz="12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The demo uses flex-start: it queues for capacity and deletes itself after 4 hours</a:t>
            </a:r>
            <a:endParaRPr sz="12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22" name="Google Shape;222;p31"/>
          <p:cNvSpPr txBox="1"/>
          <p:nvPr/>
        </p:nvSpPr>
        <p:spPr>
          <a:xfrm>
            <a:off x="304800" y="4775200"/>
            <a:ext cx="8534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rPr>
              <a:t>Behaviour: Compute Engine provisioning models docs. Prices: Cloud Billing Catalog, read 2026-08-11.</a:t>
            </a:r>
            <a:endParaRPr sz="850">
              <a:solidFill>
                <a:srgbClr val="5F6368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32"/>
          <p:cNvPicPr preferRelativeResize="0"/>
          <p:nvPr/>
        </p:nvPicPr>
        <p:blipFill rotWithShape="1">
          <a:blip r:embed="rId3">
            <a:alphaModFix/>
          </a:blip>
          <a:srcRect b="0" l="0" r="19485" t="0"/>
          <a:stretch/>
        </p:blipFill>
        <p:spPr>
          <a:xfrm>
            <a:off x="7188567" y="266850"/>
            <a:ext cx="1743734" cy="24215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32"/>
          <p:cNvSpPr/>
          <p:nvPr/>
        </p:nvSpPr>
        <p:spPr>
          <a:xfrm>
            <a:off x="304800" y="254000"/>
            <a:ext cx="6040200" cy="53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Flex-Start Halves the On-Demand Rate</a:t>
            </a:r>
            <a:endParaRPr sz="22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aphicFrame>
        <p:nvGraphicFramePr>
          <p:cNvPr id="229" name="Google Shape;229;p32"/>
          <p:cNvGraphicFramePr/>
          <p:nvPr/>
        </p:nvGraphicFramePr>
        <p:xfrm>
          <a:off x="304800" y="96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{2DDDCF97-6103-453E-99EC-66EA745E5C7C}</a:tableStyleId>
              </a:tblPr>
              <a:tblGrid>
                <a:gridCol w="16764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$ per chip-hour</a:t>
                      </a:r>
                      <a:endParaRPr b="1"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7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On-demand</a:t>
                      </a:r>
                      <a:endParaRPr b="1"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7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Flex-start</a:t>
                      </a:r>
                      <a:endParaRPr b="1"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7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Calendar</a:t>
                      </a:r>
                      <a:endParaRPr b="1"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7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1-yr CUD</a:t>
                      </a:r>
                      <a:endParaRPr b="1"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7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3-yr CUD</a:t>
                      </a:r>
                      <a:endParaRPr b="1"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7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Spot read</a:t>
                      </a:r>
                      <a:endParaRPr b="1"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7A5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v5e</a:t>
                      </a:r>
                      <a:endParaRPr b="1"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3EC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$1.20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3EC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$0.60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3EC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$0.84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3EC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$0.84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3EC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$0.54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3EC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$0.58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3ECF6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v6e Trillium</a:t>
                      </a:r>
                      <a:endParaRPr b="1"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$2.70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$1.35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$1.89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$1.89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$1.22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$1.40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v5p</a:t>
                      </a:r>
                      <a:endParaRPr b="1"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$4.20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$2.10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$2.94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$2.94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$1.89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—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TPU7x Ironwood</a:t>
                      </a:r>
                      <a:endParaRPr b="1"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$12.00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$6.00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$8.40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$8.40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$5.40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—</a:t>
                      </a:r>
                      <a:endParaRPr sz="12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0" name="Google Shape;230;p32"/>
          <p:cNvSpPr/>
          <p:nvPr/>
        </p:nvSpPr>
        <p:spPr>
          <a:xfrm>
            <a:off x="304800" y="2971800"/>
            <a:ext cx="8534400" cy="1269900"/>
          </a:xfrm>
          <a:prstGeom prst="roundRect">
            <a:avLst>
              <a:gd fmla="val 16667" name="adj"/>
            </a:avLst>
          </a:prstGeom>
          <a:solidFill>
            <a:srgbClr val="FFE7A5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300"/>
              <a:buFont typeface="Google Sans"/>
              <a:buChar char="●"/>
            </a:pPr>
            <a:r>
              <a:rPr lang="en" sz="13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Flex-start can undercut spot: v6e in us-east5 is $1.35 flex-start against $1.40 spot</a:t>
            </a:r>
            <a:endParaRPr sz="13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300"/>
              <a:buFont typeface="Google Sans"/>
              <a:buChar char="●"/>
            </a:pPr>
            <a:r>
              <a:rPr lang="en" sz="13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Flex-start runs 10 min to 7 days and bills until deleted</a:t>
            </a:r>
            <a:endParaRPr sz="13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300"/>
              <a:buFont typeface="Google Sans"/>
              <a:buChar char="●"/>
            </a:pPr>
            <a:r>
              <a:rPr lang="en" sz="13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TPU7x spot, flex-start and calendar are behind an allowlist</a:t>
            </a:r>
            <a:endParaRPr sz="13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31" name="Google Shape;231;p32"/>
          <p:cNvSpPr txBox="1"/>
          <p:nvPr/>
        </p:nvSpPr>
        <p:spPr>
          <a:xfrm>
            <a:off x="304800" y="4775200"/>
            <a:ext cx="8534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rPr>
              <a:t>List rates: cloud.google.com/tpu/pricing, read 2026-10-12. Spot: Billing Catalog reads, Aug 2026.</a:t>
            </a:r>
            <a:endParaRPr sz="850">
              <a:solidFill>
                <a:srgbClr val="5F6368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33"/>
          <p:cNvPicPr preferRelativeResize="0"/>
          <p:nvPr/>
        </p:nvPicPr>
        <p:blipFill rotWithShape="1">
          <a:blip r:embed="rId3">
            <a:alphaModFix/>
          </a:blip>
          <a:srcRect b="0" l="0" r="19485" t="0"/>
          <a:stretch/>
        </p:blipFill>
        <p:spPr>
          <a:xfrm>
            <a:off x="7188567" y="266850"/>
            <a:ext cx="1743734" cy="24215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33"/>
          <p:cNvSpPr/>
          <p:nvPr/>
        </p:nvSpPr>
        <p:spPr>
          <a:xfrm>
            <a:off x="304800" y="254000"/>
            <a:ext cx="5425500" cy="53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Quota Does Not Mean Availability</a:t>
            </a:r>
            <a:endParaRPr sz="22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38" name="Google Shape;238;p33"/>
          <p:cNvSpPr/>
          <p:nvPr/>
        </p:nvSpPr>
        <p:spPr>
          <a:xfrm>
            <a:off x="304800" y="1016000"/>
            <a:ext cx="2540100" cy="888900"/>
          </a:xfrm>
          <a:prstGeom prst="roundRect">
            <a:avLst>
              <a:gd fmla="val 16667" name="adj"/>
            </a:avLst>
          </a:prstGeom>
          <a:solidFill>
            <a:srgbClr val="FFE7A5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1. Hardware</a:t>
            </a:r>
            <a:endParaRPr b="1" sz="17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in the zone</a:t>
            </a:r>
            <a:endParaRPr sz="13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239" name="Google Shape;239;p33"/>
          <p:cNvCxnSpPr/>
          <p:nvPr/>
        </p:nvCxnSpPr>
        <p:spPr>
          <a:xfrm>
            <a:off x="2870200" y="1460500"/>
            <a:ext cx="355500" cy="0"/>
          </a:xfrm>
          <a:prstGeom prst="straightConnector1">
            <a:avLst/>
          </a:prstGeom>
          <a:noFill/>
          <a:ln cap="flat" cmpd="sng" w="19050">
            <a:solidFill>
              <a:srgbClr val="1E1E1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0" name="Google Shape;240;p33"/>
          <p:cNvSpPr/>
          <p:nvPr/>
        </p:nvSpPr>
        <p:spPr>
          <a:xfrm>
            <a:off x="3251200" y="1016000"/>
            <a:ext cx="2540100" cy="888900"/>
          </a:xfrm>
          <a:prstGeom prst="roundRect">
            <a:avLst>
              <a:gd fmla="val 16667" name="adj"/>
            </a:avLst>
          </a:prstGeom>
          <a:solidFill>
            <a:srgbClr val="C3ECF6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2. Provisioning</a:t>
            </a:r>
            <a:endParaRPr b="1" sz="17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model offered</a:t>
            </a:r>
            <a:endParaRPr sz="13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241" name="Google Shape;241;p33"/>
          <p:cNvCxnSpPr/>
          <p:nvPr/>
        </p:nvCxnSpPr>
        <p:spPr>
          <a:xfrm>
            <a:off x="5816600" y="1460500"/>
            <a:ext cx="355500" cy="0"/>
          </a:xfrm>
          <a:prstGeom prst="straightConnector1">
            <a:avLst/>
          </a:prstGeom>
          <a:noFill/>
          <a:ln cap="flat" cmpd="sng" w="19050">
            <a:solidFill>
              <a:srgbClr val="1E1E1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2" name="Google Shape;242;p33"/>
          <p:cNvSpPr/>
          <p:nvPr/>
        </p:nvSpPr>
        <p:spPr>
          <a:xfrm>
            <a:off x="6197600" y="1016000"/>
            <a:ext cx="2540100" cy="888900"/>
          </a:xfrm>
          <a:prstGeom prst="roundRect">
            <a:avLst>
              <a:gd fmla="val 16667" name="adj"/>
            </a:avLst>
          </a:prstGeom>
          <a:solidFill>
            <a:srgbClr val="F7D8D8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3. Capacity</a:t>
            </a:r>
            <a:endParaRPr b="1" sz="17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right now</a:t>
            </a:r>
            <a:endParaRPr sz="13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43" name="Google Shape;243;p33"/>
          <p:cNvSpPr/>
          <p:nvPr/>
        </p:nvSpPr>
        <p:spPr>
          <a:xfrm>
            <a:off x="304800" y="2159000"/>
            <a:ext cx="8534400" cy="2362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300"/>
              <a:buFont typeface="Google Sans"/>
              <a:buChar char="●"/>
            </a:pPr>
            <a:r>
              <a:rPr lang="en" sz="13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37 zones report v6e quota; 18 offer v6e-1 hardware, and Google's docs list 8</a:t>
            </a:r>
            <a:endParaRPr sz="13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300"/>
              <a:buFont typeface="Google Sans"/>
              <a:buChar char="●"/>
            </a:pPr>
            <a:r>
              <a:rPr lang="en" sz="13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3 of 5 zones holding 1,536 chips of quota returned stockout</a:t>
            </a:r>
            <a:endParaRPr sz="13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300"/>
              <a:buFont typeface="Google Sans"/>
              <a:buChar char="●"/>
            </a:pPr>
            <a:r>
              <a:rPr lang="en" sz="13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us-central1-b has hardware, quota and a flex-start price, and rejects flex-start</a:t>
            </a:r>
            <a:endParaRPr sz="13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300"/>
              <a:buFont typeface="Google Sans"/>
              <a:buChar char="●"/>
            </a:pPr>
            <a:r>
              <a:rPr lang="en" sz="13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Probe with spot: it fails fast with “reason: stockout”; flex-start with no quota queues as PENDING, like a stockout</a:t>
            </a:r>
            <a:endParaRPr sz="13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300"/>
              <a:buFont typeface="Google Sans"/>
              <a:buChar char="●"/>
            </a:pPr>
            <a:r>
              <a:rPr lang="en" sz="13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v5e-1 flex-start: accepted in us-west4-a, rejected in europe-west4-a and -b</a:t>
            </a:r>
            <a:endParaRPr sz="13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44" name="Google Shape;244;p33"/>
          <p:cNvSpPr txBox="1"/>
          <p:nvPr/>
        </p:nvSpPr>
        <p:spPr>
          <a:xfrm>
            <a:off x="304800" y="4775200"/>
            <a:ext cx="8534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rPr>
              <a:t>Source: gemma4-dev tpu_zones_status.md (2026-08-10), TPU.md, request-quota.sh; tpu-vllm-v5e1-2b CLAUDE.md (2026-08-04).</a:t>
            </a:r>
            <a:endParaRPr sz="850">
              <a:solidFill>
                <a:srgbClr val="5F6368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34"/>
          <p:cNvPicPr preferRelativeResize="0"/>
          <p:nvPr/>
        </p:nvPicPr>
        <p:blipFill rotWithShape="1">
          <a:blip r:embed="rId3">
            <a:alphaModFix/>
          </a:blip>
          <a:srcRect b="0" l="0" r="19485" t="0"/>
          <a:stretch/>
        </p:blipFill>
        <p:spPr>
          <a:xfrm>
            <a:off x="7188567" y="266850"/>
            <a:ext cx="1743734" cy="24215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34"/>
          <p:cNvSpPr/>
          <p:nvPr/>
        </p:nvSpPr>
        <p:spPr>
          <a:xfrm>
            <a:off x="304800" y="254000"/>
            <a:ext cx="5271900" cy="53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The Control Plane Fails Quietly</a:t>
            </a:r>
            <a:endParaRPr sz="22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51" name="Google Shape;251;p34"/>
          <p:cNvSpPr/>
          <p:nvPr/>
        </p:nvSpPr>
        <p:spPr>
          <a:xfrm>
            <a:off x="304800" y="1016000"/>
            <a:ext cx="2743200" cy="1574700"/>
          </a:xfrm>
          <a:prstGeom prst="roundRect">
            <a:avLst>
              <a:gd fmla="val 16667" name="adj"/>
            </a:avLst>
          </a:prstGeom>
          <a:solidFill>
            <a:srgbClr val="FFE7A5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Cloud TPU API is frozen</a:t>
            </a:r>
            <a:endParaRPr b="1" sz="1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Bug fixes only. TPU7x runs on Compute Engine or GKE.</a:t>
            </a:r>
            <a:endParaRPr sz="12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52" name="Google Shape;252;p34"/>
          <p:cNvSpPr/>
          <p:nvPr/>
        </p:nvSpPr>
        <p:spPr>
          <a:xfrm>
            <a:off x="3200400" y="1016000"/>
            <a:ext cx="2743200" cy="1574700"/>
          </a:xfrm>
          <a:prstGeom prst="roundRect">
            <a:avLst>
              <a:gd fmla="val 16667" name="adj"/>
            </a:avLst>
          </a:prstGeom>
          <a:solidFill>
            <a:srgbClr val="C3ECF6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v5e has no Compute Engine path</a:t>
            </a:r>
            <a:endParaRPr b="1" sz="1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Listed in 26 zones; create refused.</a:t>
            </a:r>
            <a:endParaRPr sz="12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53" name="Google Shape;253;p34"/>
          <p:cNvSpPr/>
          <p:nvPr/>
        </p:nvSpPr>
        <p:spPr>
          <a:xfrm>
            <a:off x="6096000" y="1016000"/>
            <a:ext cx="2743200" cy="1574700"/>
          </a:xfrm>
          <a:prstGeom prst="roundRect">
            <a:avLst>
              <a:gd fmla="val 16667" name="adj"/>
            </a:avLst>
          </a:prstGeom>
          <a:solidFill>
            <a:srgbClr val="F7D8D8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Two separate quota pools</a:t>
            </a:r>
            <a:endParaRPr b="1" sz="1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us-east5: 512 v6e chips via the TPU API, 0 via Compute Engine.</a:t>
            </a:r>
            <a:endParaRPr sz="12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54" name="Google Shape;254;p34"/>
          <p:cNvSpPr/>
          <p:nvPr/>
        </p:nvSpPr>
        <p:spPr>
          <a:xfrm>
            <a:off x="304800" y="2794000"/>
            <a:ext cx="2743200" cy="1574700"/>
          </a:xfrm>
          <a:prstGeom prst="roundRect">
            <a:avLst>
              <a:gd fmla="val 16667" name="adj"/>
            </a:avLst>
          </a:prstGeom>
          <a:solidFill>
            <a:srgbClr val="CCF6C5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RUNNING means booted</a:t>
            </a:r>
            <a:endParaRPr b="1" sz="1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A GKE node is Ready about 10 min before the model serves.</a:t>
            </a:r>
            <a:endParaRPr sz="12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55" name="Google Shape;255;p34"/>
          <p:cNvSpPr/>
          <p:nvPr/>
        </p:nvSpPr>
        <p:spPr>
          <a:xfrm>
            <a:off x="3200400" y="2794000"/>
            <a:ext cx="2743200" cy="1574700"/>
          </a:xfrm>
          <a:prstGeom prst="roundRect">
            <a:avLst>
              <a:gd fmla="val 16667" name="adj"/>
            </a:avLst>
          </a:prstGeom>
          <a:solidFill>
            <a:srgbClr val="FFE7A5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Boot defaults break vLLM</a:t>
            </a:r>
            <a:endParaRPr b="1" sz="1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10 GB disk, no Docker on PATH; a missing scope spins 30 min.</a:t>
            </a:r>
            <a:endParaRPr sz="12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56" name="Google Shape;256;p34"/>
          <p:cNvSpPr/>
          <p:nvPr/>
        </p:nvSpPr>
        <p:spPr>
          <a:xfrm>
            <a:off x="6096000" y="2794000"/>
            <a:ext cx="2743200" cy="1574700"/>
          </a:xfrm>
          <a:prstGeom prst="roundRect">
            <a:avLst>
              <a:gd fmla="val 16667" name="adj"/>
            </a:avLst>
          </a:prstGeom>
          <a:solidFill>
            <a:srgbClr val="C3ECF6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Nothing stops billing</a:t>
            </a:r>
            <a:endParaRPr b="1" sz="1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GKE pools and old queued resources bill until deleted.</a:t>
            </a:r>
            <a:endParaRPr sz="12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57" name="Google Shape;257;p34"/>
          <p:cNvSpPr txBox="1"/>
          <p:nvPr/>
        </p:nvSpPr>
        <p:spPr>
          <a:xfrm>
            <a:off x="304800" y="4775200"/>
            <a:ext cx="8534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rPr>
              <a:t>Sources: Google TPU docs; gemma4-dev TPU.md, request-quota.sh, gke-vllm-v6e1-2b.</a:t>
            </a:r>
            <a:endParaRPr sz="850">
              <a:solidFill>
                <a:srgbClr val="5F6368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35" title="DSC04697.jpg"/>
          <p:cNvPicPr preferRelativeResize="0"/>
          <p:nvPr/>
        </p:nvPicPr>
        <p:blipFill rotWithShape="1">
          <a:blip r:embed="rId3">
            <a:alphaModFix/>
          </a:blip>
          <a:srcRect b="0" l="26528" r="24264" t="8801"/>
          <a:stretch/>
        </p:blipFill>
        <p:spPr>
          <a:xfrm>
            <a:off x="4983250" y="0"/>
            <a:ext cx="416075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35" title="DF25_PresentationTemplate_Title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25" y="0"/>
            <a:ext cx="9144044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35"/>
          <p:cNvSpPr txBox="1"/>
          <p:nvPr/>
        </p:nvSpPr>
        <p:spPr>
          <a:xfrm>
            <a:off x="826989" y="890293"/>
            <a:ext cx="16599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Part 04</a:t>
            </a:r>
            <a:endParaRPr sz="95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65" name="Google Shape;265;p35"/>
          <p:cNvSpPr txBox="1"/>
          <p:nvPr/>
        </p:nvSpPr>
        <p:spPr>
          <a:xfrm>
            <a:off x="372375" y="2578922"/>
            <a:ext cx="4294200" cy="7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Live</a:t>
            </a:r>
            <a:endParaRPr b="1" sz="40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Demo</a:t>
            </a:r>
            <a:endParaRPr b="1" sz="40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266" name="Google Shape;266;p35" title="curly-brackets@3x 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602252">
            <a:off x="2670488" y="2765588"/>
            <a:ext cx="1950549" cy="1950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36"/>
          <p:cNvPicPr preferRelativeResize="0"/>
          <p:nvPr/>
        </p:nvPicPr>
        <p:blipFill rotWithShape="1">
          <a:blip r:embed="rId3">
            <a:alphaModFix/>
          </a:blip>
          <a:srcRect b="0" l="0" r="19485" t="0"/>
          <a:stretch/>
        </p:blipFill>
        <p:spPr>
          <a:xfrm>
            <a:off x="7188567" y="266850"/>
            <a:ext cx="1743734" cy="24215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6"/>
          <p:cNvSpPr/>
          <p:nvPr/>
        </p:nvSpPr>
        <p:spPr>
          <a:xfrm>
            <a:off x="304800" y="254000"/>
            <a:ext cx="3735000" cy="53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What the Agent Drives</a:t>
            </a:r>
            <a:endParaRPr sz="22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73" name="Google Shape;273;p36"/>
          <p:cNvSpPr/>
          <p:nvPr/>
        </p:nvSpPr>
        <p:spPr>
          <a:xfrm>
            <a:off x="304800" y="1066800"/>
            <a:ext cx="1498500" cy="1219200"/>
          </a:xfrm>
          <a:prstGeom prst="roundRect">
            <a:avLst>
              <a:gd fmla="val 16667" name="adj"/>
            </a:avLst>
          </a:prstGeom>
          <a:solidFill>
            <a:srgbClr val="FFE7A5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MCP client</a:t>
            </a:r>
            <a:endParaRPr b="1" sz="125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Claude Code or</a:t>
            </a:r>
            <a:endParaRPr sz="105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Antigravity CLI</a:t>
            </a:r>
            <a:endParaRPr sz="105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274" name="Google Shape;274;p36"/>
          <p:cNvCxnSpPr/>
          <p:nvPr/>
        </p:nvCxnSpPr>
        <p:spPr>
          <a:xfrm>
            <a:off x="1816100" y="1676400"/>
            <a:ext cx="203100" cy="0"/>
          </a:xfrm>
          <a:prstGeom prst="straightConnector1">
            <a:avLst/>
          </a:prstGeom>
          <a:noFill/>
          <a:ln cap="flat" cmpd="sng" w="19050">
            <a:solidFill>
              <a:srgbClr val="1E1E1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5" name="Google Shape;275;p36"/>
          <p:cNvSpPr/>
          <p:nvPr/>
        </p:nvSpPr>
        <p:spPr>
          <a:xfrm>
            <a:off x="2032000" y="1066800"/>
            <a:ext cx="1498500" cy="1219200"/>
          </a:xfrm>
          <a:prstGeom prst="roundRect">
            <a:avLst>
              <a:gd fmla="val 16667" name="adj"/>
            </a:avLst>
          </a:prstGeom>
          <a:solidFill>
            <a:srgbClr val="F7D8D8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server.py</a:t>
            </a:r>
            <a:endParaRPr b="1" sz="125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tpu-vllm-v5e1-2b</a:t>
            </a:r>
            <a:endParaRPr sz="105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31 tools, stdio</a:t>
            </a:r>
            <a:endParaRPr sz="105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276" name="Google Shape;276;p36"/>
          <p:cNvCxnSpPr/>
          <p:nvPr/>
        </p:nvCxnSpPr>
        <p:spPr>
          <a:xfrm>
            <a:off x="3543300" y="1676400"/>
            <a:ext cx="203100" cy="0"/>
          </a:xfrm>
          <a:prstGeom prst="straightConnector1">
            <a:avLst/>
          </a:prstGeom>
          <a:noFill/>
          <a:ln cap="flat" cmpd="sng" w="19050">
            <a:solidFill>
              <a:srgbClr val="1E1E1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7" name="Google Shape;277;p36"/>
          <p:cNvSpPr/>
          <p:nvPr/>
        </p:nvSpPr>
        <p:spPr>
          <a:xfrm>
            <a:off x="3759200" y="1066800"/>
            <a:ext cx="1498500" cy="1219200"/>
          </a:xfrm>
          <a:prstGeom prst="roundRect">
            <a:avLst>
              <a:gd fmla="val 16667" name="adj"/>
            </a:avLst>
          </a:prstGeom>
          <a:solidFill>
            <a:srgbClr val="C3ECF6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Queued resource</a:t>
            </a:r>
            <a:endParaRPr b="1" sz="125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v5litepod-1</a:t>
            </a:r>
            <a:endParaRPr sz="105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us-west4-a, flex-start</a:t>
            </a:r>
            <a:endParaRPr sz="105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278" name="Google Shape;278;p36"/>
          <p:cNvCxnSpPr/>
          <p:nvPr/>
        </p:nvCxnSpPr>
        <p:spPr>
          <a:xfrm>
            <a:off x="5270500" y="1676400"/>
            <a:ext cx="203100" cy="0"/>
          </a:xfrm>
          <a:prstGeom prst="straightConnector1">
            <a:avLst/>
          </a:prstGeom>
          <a:noFill/>
          <a:ln cap="flat" cmpd="sng" w="19050">
            <a:solidFill>
              <a:srgbClr val="1E1E1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9" name="Google Shape;279;p36"/>
          <p:cNvSpPr/>
          <p:nvPr/>
        </p:nvSpPr>
        <p:spPr>
          <a:xfrm>
            <a:off x="5486400" y="1066800"/>
            <a:ext cx="1498500" cy="1219200"/>
          </a:xfrm>
          <a:prstGeom prst="roundRect">
            <a:avLst>
              <a:gd fmla="val 16667" name="adj"/>
            </a:avLst>
          </a:prstGeom>
          <a:solidFill>
            <a:srgbClr val="CCF6C5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TPU VM node</a:t>
            </a:r>
            <a:endParaRPr b="1" sz="125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vllm/vllm-tpu</a:t>
            </a:r>
            <a:endParaRPr sz="105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port 8000</a:t>
            </a:r>
            <a:endParaRPr sz="105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280" name="Google Shape;280;p36"/>
          <p:cNvCxnSpPr/>
          <p:nvPr/>
        </p:nvCxnSpPr>
        <p:spPr>
          <a:xfrm>
            <a:off x="6997700" y="1676400"/>
            <a:ext cx="203100" cy="0"/>
          </a:xfrm>
          <a:prstGeom prst="straightConnector1">
            <a:avLst/>
          </a:prstGeom>
          <a:noFill/>
          <a:ln cap="flat" cmpd="sng" w="19050">
            <a:solidFill>
              <a:srgbClr val="1E1E1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1" name="Google Shape;281;p36"/>
          <p:cNvSpPr/>
          <p:nvPr/>
        </p:nvSpPr>
        <p:spPr>
          <a:xfrm>
            <a:off x="7213600" y="1066800"/>
            <a:ext cx="1498500" cy="1219200"/>
          </a:xfrm>
          <a:prstGeom prst="roundRect">
            <a:avLst>
              <a:gd fmla="val 16667" name="adj"/>
            </a:avLst>
          </a:prstGeom>
          <a:solidFill>
            <a:srgbClr val="F9AB00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Gemma 4 E2B-it</a:t>
            </a:r>
            <a:endParaRPr b="1" sz="125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bf16, one chip</a:t>
            </a:r>
            <a:endParaRPr sz="105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82" name="Google Shape;282;p36"/>
          <p:cNvSpPr/>
          <p:nvPr/>
        </p:nvSpPr>
        <p:spPr>
          <a:xfrm>
            <a:off x="304800" y="2540000"/>
            <a:ext cx="8534400" cy="1905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300"/>
              <a:buFont typeface="Google Sans"/>
              <a:buChar char="●"/>
            </a:pPr>
            <a:r>
              <a:rPr lang="en" sz="13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The client talks to server.py over stdio; its tools wrap gcloud to provision, find the node's IP and start the container</a:t>
            </a:r>
            <a:endParaRPr sz="13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300"/>
              <a:buFont typeface="Google Sans"/>
              <a:buChar char="●"/>
            </a:pPr>
            <a:r>
              <a:rPr lang="en" sz="13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Queries go to vLLM's OpenAI-compatible /v1/chat/completions</a:t>
            </a:r>
            <a:endParaRPr sz="13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300"/>
              <a:buFont typeface="Google Sans"/>
              <a:buChar char="●"/>
            </a:pPr>
            <a:r>
              <a:rPr lang="en" sz="13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analyze_cloud_logging sends the TPU's own error logs to the model it hosts</a:t>
            </a:r>
            <a:endParaRPr sz="13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300"/>
              <a:buFont typeface="Google Sans"/>
              <a:buChar char="●"/>
            </a:pPr>
            <a:r>
              <a:rPr lang="en" sz="13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Project, zone, model and provisioning model come from one file, tpu.env</a:t>
            </a:r>
            <a:endParaRPr sz="13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37"/>
          <p:cNvPicPr preferRelativeResize="0"/>
          <p:nvPr/>
        </p:nvPicPr>
        <p:blipFill rotWithShape="1">
          <a:blip r:embed="rId3">
            <a:alphaModFix/>
          </a:blip>
          <a:srcRect b="0" l="0" r="19485" t="0"/>
          <a:stretch/>
        </p:blipFill>
        <p:spPr>
          <a:xfrm>
            <a:off x="7188567" y="266850"/>
            <a:ext cx="1743734" cy="24215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37"/>
          <p:cNvSpPr/>
          <p:nvPr/>
        </p:nvSpPr>
        <p:spPr>
          <a:xfrm>
            <a:off x="304800" y="254000"/>
            <a:ext cx="2198400" cy="53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Demo Script</a:t>
            </a:r>
            <a:endParaRPr sz="22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aphicFrame>
        <p:nvGraphicFramePr>
          <p:cNvPr id="289" name="Google Shape;289;p37"/>
          <p:cNvGraphicFramePr/>
          <p:nvPr/>
        </p:nvGraphicFramePr>
        <p:xfrm>
          <a:off x="304800" y="939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{2DDDCF97-6103-453E-99EC-66EA745E5C7C}</a:tableStyleId>
              </a:tblPr>
              <a:tblGrid>
                <a:gridCol w="457200"/>
                <a:gridCol w="3683000"/>
                <a:gridCol w="4394200"/>
              </a:tblGrid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5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#</a:t>
                      </a:r>
                      <a:endParaRPr b="1" sz="115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7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5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Ask the agent</a:t>
                      </a:r>
                      <a:endParaRPr b="1" sz="115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7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5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Tool it calls</a:t>
                      </a:r>
                      <a:endParaRPr b="1" sz="115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7A5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5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1</a:t>
                      </a:r>
                      <a:endParaRPr sz="115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5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What's running in the zone?</a:t>
                      </a:r>
                      <a:endParaRPr sz="115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50">
                          <a:solidFill>
                            <a:srgbClr val="1E1E1E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get_system_status</a:t>
                      </a:r>
                      <a:endParaRPr sz="1150">
                        <a:solidFill>
                          <a:srgbClr val="1E1E1E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5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2</a:t>
                      </a:r>
                      <a:endParaRPr sz="115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5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Which zones have v5e quota?</a:t>
                      </a:r>
                      <a:endParaRPr sz="115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50">
                          <a:solidFill>
                            <a:srgbClr val="1E1E1E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get_zones_with_available_quota</a:t>
                      </a:r>
                      <a:endParaRPr sz="1150">
                        <a:solidFill>
                          <a:srgbClr val="1E1E1E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5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3</a:t>
                      </a:r>
                      <a:endParaRPr sz="115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5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Create the v5e-1, flex-start</a:t>
                      </a:r>
                      <a:endParaRPr sz="115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50">
                          <a:solidFill>
                            <a:srgbClr val="1E1E1E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create_tpu_queued_resource</a:t>
                      </a:r>
                      <a:endParaRPr sz="1150">
                        <a:solidFill>
                          <a:srgbClr val="1E1E1E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5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4</a:t>
                      </a:r>
                      <a:endParaRPr sz="115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5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Is it up yet? Show the container log</a:t>
                      </a:r>
                      <a:endParaRPr sz="115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50">
                          <a:solidFill>
                            <a:srgbClr val="1E1E1E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describe_queued_resource, get_vllm_docker_logs</a:t>
                      </a:r>
                      <a:endParaRPr sz="1150">
                        <a:solidFill>
                          <a:srgbClr val="1E1E1E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5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5</a:t>
                      </a:r>
                      <a:endParaRPr sz="115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5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Is the model healthy?</a:t>
                      </a:r>
                      <a:endParaRPr sz="115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50">
                          <a:solidFill>
                            <a:srgbClr val="1E1E1E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verify_model_health</a:t>
                      </a:r>
                      <a:endParaRPr sz="1150">
                        <a:solidFill>
                          <a:srgbClr val="1E1E1E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5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6</a:t>
                      </a:r>
                      <a:endParaRPr sz="115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5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Explain a TPU in two sentences, with speed</a:t>
                      </a:r>
                      <a:endParaRPr sz="115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50">
                          <a:solidFill>
                            <a:srgbClr val="1E1E1E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query_queued_gemma4_with_stats</a:t>
                      </a:r>
                      <a:endParaRPr sz="1150">
                        <a:solidFill>
                          <a:srgbClr val="1E1E1E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5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7</a:t>
                      </a:r>
                      <a:endParaRPr sz="115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5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Any TPU errors in the last hour?</a:t>
                      </a:r>
                      <a:endParaRPr sz="115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50">
                          <a:solidFill>
                            <a:srgbClr val="1E1E1E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analyze_cloud_logging</a:t>
                      </a:r>
                      <a:endParaRPr sz="1150">
                        <a:solidFill>
                          <a:srgbClr val="1E1E1E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5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8</a:t>
                      </a:r>
                      <a:endParaRPr sz="115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5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Tear it down</a:t>
                      </a:r>
                      <a:endParaRPr sz="115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50">
                          <a:solidFill>
                            <a:srgbClr val="1E1E1E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destroy_queued_resource</a:t>
                      </a:r>
                      <a:endParaRPr sz="1150">
                        <a:solidFill>
                          <a:srgbClr val="1E1E1E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0" name="Google Shape;290;p37"/>
          <p:cNvSpPr/>
          <p:nvPr/>
        </p:nvSpPr>
        <p:spPr>
          <a:xfrm>
            <a:off x="304800" y="4394200"/>
            <a:ext cx="8534400" cy="457200"/>
          </a:xfrm>
          <a:prstGeom prst="roundRect">
            <a:avLst>
              <a:gd fmla="val 16667" name="adj"/>
            </a:avLst>
          </a:prstGeom>
          <a:solidFill>
            <a:srgbClr val="F7D8D8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In a shared zone, provision with create_tpu_queued_resource: manage_queued_resource deletes every other queued resource in the zone.</a:t>
            </a:r>
            <a:endParaRPr sz="11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38"/>
          <p:cNvPicPr preferRelativeResize="0"/>
          <p:nvPr/>
        </p:nvPicPr>
        <p:blipFill rotWithShape="1">
          <a:blip r:embed="rId3">
            <a:alphaModFix/>
          </a:blip>
          <a:srcRect b="0" l="0" r="19485" t="0"/>
          <a:stretch/>
        </p:blipFill>
        <p:spPr>
          <a:xfrm>
            <a:off x="7188567" y="266850"/>
            <a:ext cx="1743734" cy="24215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8"/>
          <p:cNvSpPr/>
          <p:nvPr/>
        </p:nvSpPr>
        <p:spPr>
          <a:xfrm>
            <a:off x="304800" y="254000"/>
            <a:ext cx="6165900" cy="53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XLA Compile Is Most of a Cold Start: Cache It</a:t>
            </a:r>
            <a:endParaRPr sz="1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97" name="Google Shape;297;p38"/>
          <p:cNvSpPr txBox="1"/>
          <p:nvPr/>
        </p:nvSpPr>
        <p:spPr>
          <a:xfrm>
            <a:off x="304800" y="965200"/>
            <a:ext cx="8534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Seconds from container start to healthy, Gemma 4 E2B</a:t>
            </a:r>
            <a:endParaRPr b="1" sz="12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98" name="Google Shape;298;p38"/>
          <p:cNvSpPr txBox="1"/>
          <p:nvPr/>
        </p:nvSpPr>
        <p:spPr>
          <a:xfrm>
            <a:off x="304800" y="1295400"/>
            <a:ext cx="8889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v6e-1</a:t>
            </a:r>
            <a:endParaRPr sz="11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99" name="Google Shape;299;p38"/>
          <p:cNvSpPr/>
          <p:nvPr/>
        </p:nvSpPr>
        <p:spPr>
          <a:xfrm>
            <a:off x="1295400" y="1295400"/>
            <a:ext cx="2890200" cy="431700"/>
          </a:xfrm>
          <a:prstGeom prst="rect">
            <a:avLst/>
          </a:prstGeom>
          <a:solidFill>
            <a:srgbClr val="C3ECF6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38"/>
          <p:cNvSpPr txBox="1"/>
          <p:nvPr/>
        </p:nvSpPr>
        <p:spPr>
          <a:xfrm>
            <a:off x="4261945" y="1295400"/>
            <a:ext cx="8889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510 s</a:t>
            </a:r>
            <a:endParaRPr b="1" sz="11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01" name="Google Shape;301;p38"/>
          <p:cNvSpPr txBox="1"/>
          <p:nvPr/>
        </p:nvSpPr>
        <p:spPr>
          <a:xfrm>
            <a:off x="304800" y="1828800"/>
            <a:ext cx="8889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v5e-1</a:t>
            </a:r>
            <a:endParaRPr sz="11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02" name="Google Shape;302;p38"/>
          <p:cNvSpPr/>
          <p:nvPr/>
        </p:nvSpPr>
        <p:spPr>
          <a:xfrm>
            <a:off x="1295400" y="1828800"/>
            <a:ext cx="5588100" cy="431700"/>
          </a:xfrm>
          <a:prstGeom prst="rect">
            <a:avLst/>
          </a:prstGeom>
          <a:solidFill>
            <a:srgbClr val="FFE7A5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38"/>
          <p:cNvSpPr txBox="1"/>
          <p:nvPr/>
        </p:nvSpPr>
        <p:spPr>
          <a:xfrm>
            <a:off x="6959600" y="1828800"/>
            <a:ext cx="8889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986 s</a:t>
            </a:r>
            <a:endParaRPr b="1" sz="11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04" name="Google Shape;304;p38"/>
          <p:cNvSpPr/>
          <p:nvPr/>
        </p:nvSpPr>
        <p:spPr>
          <a:xfrm>
            <a:off x="304800" y="2540000"/>
            <a:ext cx="8534400" cy="1905000"/>
          </a:xfrm>
          <a:prstGeom prst="roundRect">
            <a:avLst>
              <a:gd fmla="val 16667" name="adj"/>
            </a:avLst>
          </a:prstGeom>
          <a:solidFill>
            <a:srgbClr val="CCF6C5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300"/>
              <a:buFont typeface="Google Sans"/>
              <a:buChar char="●"/>
            </a:pPr>
            <a:r>
              <a:rPr lang="en" sz="13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XLA compile is 81 to 91% of engine start</a:t>
            </a:r>
            <a:endParaRPr sz="13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300"/>
              <a:buFont typeface="Google Sans"/>
              <a:buChar char="●"/>
            </a:pPr>
            <a:r>
              <a:rPr lang="en" sz="13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A mounted compile cache cut a v5e restart 42%, 857 to 497 s</a:t>
            </a:r>
            <a:endParaRPr sz="13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300"/>
              <a:buFont typeface="Google Sans"/>
              <a:buChar char="●"/>
            </a:pPr>
            <a:r>
              <a:rPr lang="en" sz="13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31B weights load in 5.6 min from in-region GCS; 60 to 90 min from Hugging Face</a:t>
            </a:r>
            <a:endParaRPr sz="13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300"/>
              <a:buFont typeface="Google Sans"/>
              <a:buChar char="●"/>
            </a:pPr>
            <a:r>
              <a:rPr lang="en" sz="13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GKE from nothing to first token: about 28 min</a:t>
            </a:r>
            <a:endParaRPr sz="13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300"/>
              <a:buFont typeface="Google Sans"/>
              <a:buChar char="●"/>
            </a:pPr>
            <a:r>
              <a:rPr lang="en" sz="13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Each v6e cold start costs $0.19 to $0.24 at flex-start rates</a:t>
            </a:r>
            <a:endParaRPr sz="13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05" name="Google Shape;305;p38"/>
          <p:cNvSpPr txBox="1"/>
          <p:nvPr/>
        </p:nvSpPr>
        <p:spPr>
          <a:xfrm>
            <a:off x="304800" y="4775200"/>
            <a:ext cx="8534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rPr>
              <a:t>Source: gemma4-dev tpu-jax-v5e1-2b and tpu-vllm-v5e1-2b reports.</a:t>
            </a:r>
            <a:endParaRPr sz="850">
              <a:solidFill>
                <a:srgbClr val="5F6368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39"/>
          <p:cNvPicPr preferRelativeResize="0"/>
          <p:nvPr/>
        </p:nvPicPr>
        <p:blipFill rotWithShape="1">
          <a:blip r:embed="rId3">
            <a:alphaModFix/>
          </a:blip>
          <a:srcRect b="0" l="0" r="19485" t="0"/>
          <a:stretch/>
        </p:blipFill>
        <p:spPr>
          <a:xfrm>
            <a:off x="7188567" y="266850"/>
            <a:ext cx="1743734" cy="24215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39"/>
          <p:cNvSpPr/>
          <p:nvPr/>
        </p:nvSpPr>
        <p:spPr>
          <a:xfrm>
            <a:off x="304800" y="254000"/>
            <a:ext cx="6165900" cy="53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On v5e, int8 Serves E2B 1.7x Faster Than bf16</a:t>
            </a:r>
            <a:endParaRPr sz="1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12" name="Google Shape;312;p39"/>
          <p:cNvSpPr txBox="1"/>
          <p:nvPr/>
        </p:nvSpPr>
        <p:spPr>
          <a:xfrm>
            <a:off x="304800" y="939800"/>
            <a:ext cx="5334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Output tok/s, one stream, v5e-1 (E2B)</a:t>
            </a:r>
            <a:endParaRPr b="1" sz="12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13" name="Google Shape;313;p39"/>
          <p:cNvSpPr txBox="1"/>
          <p:nvPr/>
        </p:nvSpPr>
        <p:spPr>
          <a:xfrm>
            <a:off x="304800" y="1270000"/>
            <a:ext cx="1524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bf16</a:t>
            </a:r>
            <a:endParaRPr sz="11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14" name="Google Shape;314;p39"/>
          <p:cNvSpPr/>
          <p:nvPr/>
        </p:nvSpPr>
        <p:spPr>
          <a:xfrm>
            <a:off x="1930400" y="1270000"/>
            <a:ext cx="1731000" cy="381000"/>
          </a:xfrm>
          <a:prstGeom prst="rect">
            <a:avLst/>
          </a:prstGeom>
          <a:solidFill>
            <a:srgbClr val="F7D8D8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39"/>
          <p:cNvSpPr txBox="1"/>
          <p:nvPr/>
        </p:nvSpPr>
        <p:spPr>
          <a:xfrm>
            <a:off x="3737563" y="1270000"/>
            <a:ext cx="888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144</a:t>
            </a:r>
            <a:endParaRPr b="1" sz="11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16" name="Google Shape;316;p39"/>
          <p:cNvSpPr txBox="1"/>
          <p:nvPr/>
        </p:nvSpPr>
        <p:spPr>
          <a:xfrm>
            <a:off x="304800" y="1752600"/>
            <a:ext cx="1524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4-bit QAT</a:t>
            </a:r>
            <a:endParaRPr sz="11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17" name="Google Shape;317;p39"/>
          <p:cNvSpPr/>
          <p:nvPr/>
        </p:nvSpPr>
        <p:spPr>
          <a:xfrm>
            <a:off x="1930400" y="1752600"/>
            <a:ext cx="1803000" cy="381000"/>
          </a:xfrm>
          <a:prstGeom prst="rect">
            <a:avLst/>
          </a:prstGeom>
          <a:solidFill>
            <a:srgbClr val="FFE7A5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39"/>
          <p:cNvSpPr txBox="1"/>
          <p:nvPr/>
        </p:nvSpPr>
        <p:spPr>
          <a:xfrm>
            <a:off x="3809686" y="1752600"/>
            <a:ext cx="888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150</a:t>
            </a:r>
            <a:endParaRPr b="1" sz="11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19" name="Google Shape;319;p39"/>
          <p:cNvSpPr txBox="1"/>
          <p:nvPr/>
        </p:nvSpPr>
        <p:spPr>
          <a:xfrm>
            <a:off x="304800" y="2235200"/>
            <a:ext cx="1524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fp8</a:t>
            </a:r>
            <a:endParaRPr sz="11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0" name="Google Shape;320;p39"/>
          <p:cNvSpPr/>
          <p:nvPr/>
        </p:nvSpPr>
        <p:spPr>
          <a:xfrm>
            <a:off x="1930400" y="2235200"/>
            <a:ext cx="2187600" cy="381000"/>
          </a:xfrm>
          <a:prstGeom prst="rect">
            <a:avLst/>
          </a:prstGeom>
          <a:solidFill>
            <a:srgbClr val="C3ECF6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39"/>
          <p:cNvSpPr txBox="1"/>
          <p:nvPr/>
        </p:nvSpPr>
        <p:spPr>
          <a:xfrm>
            <a:off x="4194345" y="2235200"/>
            <a:ext cx="888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182</a:t>
            </a:r>
            <a:endParaRPr b="1" sz="11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2" name="Google Shape;322;p39"/>
          <p:cNvSpPr txBox="1"/>
          <p:nvPr/>
        </p:nvSpPr>
        <p:spPr>
          <a:xfrm>
            <a:off x="304800" y="2717800"/>
            <a:ext cx="1524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fp8 + 4-bit emb.</a:t>
            </a:r>
            <a:endParaRPr sz="11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3" name="Google Shape;323;p39"/>
          <p:cNvSpPr/>
          <p:nvPr/>
        </p:nvSpPr>
        <p:spPr>
          <a:xfrm>
            <a:off x="1930400" y="2717800"/>
            <a:ext cx="2440200" cy="381000"/>
          </a:xfrm>
          <a:prstGeom prst="rect">
            <a:avLst/>
          </a:prstGeom>
          <a:solidFill>
            <a:srgbClr val="C3ECF6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39"/>
          <p:cNvSpPr txBox="1"/>
          <p:nvPr/>
        </p:nvSpPr>
        <p:spPr>
          <a:xfrm>
            <a:off x="4446777" y="2717800"/>
            <a:ext cx="888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203</a:t>
            </a:r>
            <a:endParaRPr b="1" sz="11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5" name="Google Shape;325;p39"/>
          <p:cNvSpPr txBox="1"/>
          <p:nvPr/>
        </p:nvSpPr>
        <p:spPr>
          <a:xfrm>
            <a:off x="304800" y="3200400"/>
            <a:ext cx="1524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int8 W8A8</a:t>
            </a:r>
            <a:endParaRPr sz="11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6" name="Google Shape;326;p39"/>
          <p:cNvSpPr/>
          <p:nvPr/>
        </p:nvSpPr>
        <p:spPr>
          <a:xfrm>
            <a:off x="1930400" y="3200400"/>
            <a:ext cx="2644500" cy="381000"/>
          </a:xfrm>
          <a:prstGeom prst="rect">
            <a:avLst/>
          </a:prstGeom>
          <a:solidFill>
            <a:srgbClr val="CCF6C5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39"/>
          <p:cNvSpPr txBox="1"/>
          <p:nvPr/>
        </p:nvSpPr>
        <p:spPr>
          <a:xfrm>
            <a:off x="4651127" y="3200400"/>
            <a:ext cx="888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220</a:t>
            </a:r>
            <a:endParaRPr b="1" sz="11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8" name="Google Shape;328;p39"/>
          <p:cNvSpPr txBox="1"/>
          <p:nvPr/>
        </p:nvSpPr>
        <p:spPr>
          <a:xfrm>
            <a:off x="304800" y="3683000"/>
            <a:ext cx="1524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int8 + 4-bit emb.</a:t>
            </a:r>
            <a:endParaRPr sz="11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9" name="Google Shape;329;p39"/>
          <p:cNvSpPr/>
          <p:nvPr/>
        </p:nvSpPr>
        <p:spPr>
          <a:xfrm>
            <a:off x="1930400" y="3683000"/>
            <a:ext cx="2921100" cy="381000"/>
          </a:xfrm>
          <a:prstGeom prst="rect">
            <a:avLst/>
          </a:prstGeom>
          <a:solidFill>
            <a:srgbClr val="CCF6C5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39"/>
          <p:cNvSpPr txBox="1"/>
          <p:nvPr/>
        </p:nvSpPr>
        <p:spPr>
          <a:xfrm>
            <a:off x="4927600" y="3683000"/>
            <a:ext cx="888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243</a:t>
            </a:r>
            <a:endParaRPr b="1" sz="11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31" name="Google Shape;331;p39"/>
          <p:cNvSpPr/>
          <p:nvPr/>
        </p:nvSpPr>
        <p:spPr>
          <a:xfrm>
            <a:off x="5969000" y="1270000"/>
            <a:ext cx="2870100" cy="2895600"/>
          </a:xfrm>
          <a:prstGeom prst="roundRect">
            <a:avLst>
              <a:gd fmla="val 16667" name="adj"/>
            </a:avLst>
          </a:prstGeom>
          <a:solidFill>
            <a:srgbClr val="FFE7A5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200"/>
              <a:buFont typeface="Google Sans"/>
              <a:buChar char="●"/>
            </a:pPr>
            <a:r>
              <a:rPr lang="en" sz="12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Accuracy holds: 0.683 bf16, 0.677 int8 + 4-bit embeddings</a:t>
            </a:r>
            <a:endParaRPr sz="12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200"/>
              <a:buFont typeface="Google Sans"/>
              <a:buChar char="●"/>
            </a:pPr>
            <a:r>
              <a:rPr lang="en" sz="12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fp8 trails int8 at the same file size: 518 against 624 tok/s on 12B</a:t>
            </a:r>
            <a:endParaRPr sz="12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200"/>
              <a:buFont typeface="Google Sans"/>
              <a:buChar char="●"/>
            </a:pPr>
            <a:r>
              <a:rPr lang="en" sz="12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12B int8 (11.31 GiB) is the largest model served on one 16 GB v5e chip</a:t>
            </a:r>
            <a:endParaRPr sz="12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32" name="Google Shape;332;p39"/>
          <p:cNvSpPr txBox="1"/>
          <p:nvPr/>
        </p:nvSpPr>
        <p:spPr>
          <a:xfrm>
            <a:off x="304800" y="4775200"/>
            <a:ext cx="8534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rPr>
              <a:t>One stream, v5e-1. Source: gemma4-dev QUANTIZATION.md, measured 2026-09-29/30.</a:t>
            </a:r>
            <a:endParaRPr sz="850">
              <a:solidFill>
                <a:srgbClr val="5F6368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40"/>
          <p:cNvPicPr preferRelativeResize="0"/>
          <p:nvPr/>
        </p:nvPicPr>
        <p:blipFill rotWithShape="1">
          <a:blip r:embed="rId3">
            <a:alphaModFix/>
          </a:blip>
          <a:srcRect b="0" l="0" r="19485" t="0"/>
          <a:stretch/>
        </p:blipFill>
        <p:spPr>
          <a:xfrm>
            <a:off x="7188567" y="266850"/>
            <a:ext cx="1743734" cy="24215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40"/>
          <p:cNvSpPr/>
          <p:nvPr/>
        </p:nvSpPr>
        <p:spPr>
          <a:xfrm>
            <a:off x="304800" y="254000"/>
            <a:ext cx="4196100" cy="53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Measured on One v5e Chip</a:t>
            </a:r>
            <a:endParaRPr sz="22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aphicFrame>
        <p:nvGraphicFramePr>
          <p:cNvPr id="339" name="Google Shape;339;p40"/>
          <p:cNvGraphicFramePr/>
          <p:nvPr/>
        </p:nvGraphicFramePr>
        <p:xfrm>
          <a:off x="304800" y="96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{2DDDCF97-6103-453E-99EC-66EA745E5C7C}</a:tableStyleId>
              </a:tblPr>
              <a:tblGrid>
                <a:gridCol w="6502400"/>
                <a:gridCol w="2032000"/>
              </a:tblGrid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Gemma 4 E2B-it, bf16, v5litepod-1</a:t>
                      </a:r>
                      <a:endParaRPr b="1" sz="13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7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Result</a:t>
                      </a:r>
                      <a:endParaRPr b="1" sz="13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7A5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GSM8K, all 1,319 problems, 2,048-token limit</a:t>
                      </a:r>
                      <a:endParaRPr sz="13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0.910</a:t>
                      </a:r>
                      <a:endParaRPr sz="13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GSM8K, 768-token limit</a:t>
                      </a:r>
                      <a:endParaRPr sz="13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0.894</a:t>
                      </a:r>
                      <a:endParaRPr sz="13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BFCL v3 simple, 400 single-tool calls</a:t>
                      </a:r>
                      <a:endParaRPr sz="13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0.928</a:t>
                      </a:r>
                      <a:endParaRPr sz="13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~1,000-token prompts, output tok/s at 1 / 16 requests</a:t>
                      </a:r>
                      <a:endParaRPr sz="13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3EC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139 / 1,521</a:t>
                      </a:r>
                      <a:endParaRPr sz="13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3ECF6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~3,600-token prompts, output tok/s at 1 / 16 requests</a:t>
                      </a:r>
                      <a:endParaRPr sz="13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130 / 906</a:t>
                      </a:r>
                      <a:endParaRPr sz="13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~3,600-token prompts, time to first token at 16 requests</a:t>
                      </a:r>
                      <a:endParaRPr sz="13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1.10 s</a:t>
                      </a:r>
                      <a:endParaRPr sz="130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0" name="Google Shape;340;p40"/>
          <p:cNvSpPr/>
          <p:nvPr/>
        </p:nvSpPr>
        <p:spPr>
          <a:xfrm>
            <a:off x="304800" y="3810000"/>
            <a:ext cx="8534400" cy="635100"/>
          </a:xfrm>
          <a:prstGeom prst="roundRect">
            <a:avLst>
              <a:gd fmla="val 16667" name="adj"/>
            </a:avLst>
          </a:prstGeom>
          <a:solidFill>
            <a:srgbClr val="CCF6C5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One chip, 16 requests, ~1,000-token prompts: 1,521 output tok/s</a:t>
            </a:r>
            <a:endParaRPr sz="1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41" name="Google Shape;341;p40"/>
          <p:cNvSpPr txBox="1"/>
          <p:nvPr/>
        </p:nvSpPr>
        <p:spPr>
          <a:xfrm>
            <a:off x="304800" y="4775200"/>
            <a:ext cx="8534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rPr>
              <a:t>Measured 2026-09-30. GSM8K and BFCL greedy. Each long prompt has its own prefix, so the prefix cache serves none of it. Source: tpu-vllm-v5e1-2b README.</a:t>
            </a:r>
            <a:endParaRPr sz="850">
              <a:solidFill>
                <a:srgbClr val="5F6368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Google Shape;346;p41"/>
          <p:cNvPicPr preferRelativeResize="0"/>
          <p:nvPr/>
        </p:nvPicPr>
        <p:blipFill rotWithShape="1">
          <a:blip r:embed="rId3">
            <a:alphaModFix/>
          </a:blip>
          <a:srcRect b="0" l="0" r="19485" t="0"/>
          <a:stretch/>
        </p:blipFill>
        <p:spPr>
          <a:xfrm>
            <a:off x="7188567" y="266850"/>
            <a:ext cx="1743734" cy="24215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41"/>
          <p:cNvSpPr/>
          <p:nvPr/>
        </p:nvSpPr>
        <p:spPr>
          <a:xfrm>
            <a:off x="304800" y="254000"/>
            <a:ext cx="2659500" cy="53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So, Which One?</a:t>
            </a:r>
            <a:endParaRPr sz="22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aphicFrame>
        <p:nvGraphicFramePr>
          <p:cNvPr id="348" name="Google Shape;348;p41"/>
          <p:cNvGraphicFramePr/>
          <p:nvPr/>
        </p:nvGraphicFramePr>
        <p:xfrm>
          <a:off x="304800" y="96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{2DDDCF97-6103-453E-99EC-66EA745E5C7C}</a:tableStyleId>
              </a:tblPr>
              <a:tblGrid>
                <a:gridCol w="2413000"/>
                <a:gridCol w="2794000"/>
                <a:gridCol w="3327400"/>
              </a:tblGrid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5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Workload</a:t>
                      </a:r>
                      <a:endParaRPr b="1" sz="115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7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5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Pick</a:t>
                      </a:r>
                      <a:endParaRPr b="1" sz="115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7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5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Why</a:t>
                      </a:r>
                      <a:endParaRPr b="1" sz="115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7A5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5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E2B or E4B, cost first</a:t>
                      </a:r>
                      <a:endParaRPr b="1" sz="115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3EC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5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v5e-1, int8, one engine per chip</a:t>
                      </a:r>
                      <a:endParaRPr sz="115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3EC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5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1.7x bf16 speed; lowest $/M at spot or flex-start</a:t>
                      </a:r>
                      <a:endParaRPr sz="115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3ECF6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5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12B to 31B on one chip</a:t>
                      </a:r>
                      <a:endParaRPr b="1" sz="115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5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v6e-1, 4-bit QAT W4A16</a:t>
                      </a:r>
                      <a:endParaRPr sz="115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5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26B at 1,283 tok/s; 31B fits in 21.67 GiB</a:t>
                      </a:r>
                      <a:endParaRPr sz="115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5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bf16 26B or 31B, long context</a:t>
                      </a:r>
                      <a:endParaRPr b="1" sz="115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5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v6e-4, TP=4</a:t>
                      </a:r>
                      <a:endParaRPr sz="115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5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about 2,000 tok/s</a:t>
                      </a:r>
                      <a:endParaRPr sz="115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5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fp8 math, 192 GiB per chip</a:t>
                      </a:r>
                      <a:endParaRPr b="1" sz="115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5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TPU7x</a:t>
                      </a:r>
                      <a:endParaRPr sz="115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5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allowlisted; not measured here</a:t>
                      </a:r>
                      <a:endParaRPr sz="115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5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Stock software, fast boot</a:t>
                      </a:r>
                      <a:endParaRPr b="1" sz="115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5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L4, or Cloud Run L4</a:t>
                      </a:r>
                      <a:endParaRPr sz="115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50">
                          <a:solidFill>
                            <a:srgbClr val="1E1E1E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26B 4-bit loads unpatched; 334 s to healthy</a:t>
                      </a:r>
                      <a:endParaRPr sz="1150">
                        <a:solidFill>
                          <a:srgbClr val="1E1E1E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1E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9" name="Google Shape;349;p41"/>
          <p:cNvSpPr/>
          <p:nvPr/>
        </p:nvSpPr>
        <p:spPr>
          <a:xfrm>
            <a:off x="304800" y="3327400"/>
            <a:ext cx="8534400" cy="762000"/>
          </a:xfrm>
          <a:prstGeom prst="roundRect">
            <a:avLst>
              <a:gd fmla="val 16667" name="adj"/>
            </a:avLst>
          </a:prstGeom>
          <a:solidFill>
            <a:srgbClr val="CCF6C5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Then: probe capacity with spot, ask for the smallest slice, pin the image digest, mount the compile cache.</a:t>
            </a:r>
            <a:endParaRPr sz="13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42"/>
          <p:cNvPicPr preferRelativeResize="0"/>
          <p:nvPr/>
        </p:nvPicPr>
        <p:blipFill rotWithShape="1">
          <a:blip r:embed="rId3">
            <a:alphaModFix/>
          </a:blip>
          <a:srcRect b="0" l="0" r="19485" t="0"/>
          <a:stretch/>
        </p:blipFill>
        <p:spPr>
          <a:xfrm>
            <a:off x="7188567" y="266850"/>
            <a:ext cx="1743734" cy="24215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42"/>
          <p:cNvSpPr/>
          <p:nvPr/>
        </p:nvSpPr>
        <p:spPr>
          <a:xfrm>
            <a:off x="304800" y="254000"/>
            <a:ext cx="1890900" cy="53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Takeaways</a:t>
            </a:r>
            <a:endParaRPr sz="22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56" name="Google Shape;356;p42"/>
          <p:cNvSpPr/>
          <p:nvPr/>
        </p:nvSpPr>
        <p:spPr>
          <a:xfrm>
            <a:off x="304800" y="1016000"/>
            <a:ext cx="4191000" cy="1066800"/>
          </a:xfrm>
          <a:prstGeom prst="roundRect">
            <a:avLst>
              <a:gd fmla="val 16667" name="adj"/>
            </a:avLst>
          </a:prstGeom>
          <a:solidFill>
            <a:srgbClr val="FFE7A5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One v5e chip serves Gemma 4 E2B at about 1,500 output tok/s across 16 requests, for $0.60 an hour on flex-start</a:t>
            </a:r>
            <a:endParaRPr sz="13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57" name="Google Shape;357;p42"/>
          <p:cNvSpPr/>
          <p:nvPr/>
        </p:nvSpPr>
        <p:spPr>
          <a:xfrm>
            <a:off x="4648200" y="1016000"/>
            <a:ext cx="4191000" cy="1066800"/>
          </a:xfrm>
          <a:prstGeom prst="roundRect">
            <a:avLst>
              <a:gd fmla="val 16667" name="adj"/>
            </a:avLst>
          </a:prstGeom>
          <a:solidFill>
            <a:srgbClr val="C3ECF6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int8 serves E2B 1.7x faster than bf16 on v5e, with accuracy within a point</a:t>
            </a:r>
            <a:endParaRPr sz="13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58" name="Google Shape;358;p42"/>
          <p:cNvSpPr/>
          <p:nvPr/>
        </p:nvSpPr>
        <p:spPr>
          <a:xfrm>
            <a:off x="304800" y="2235200"/>
            <a:ext cx="4191000" cy="1066800"/>
          </a:xfrm>
          <a:prstGeom prst="roundRect">
            <a:avLst>
              <a:gd fmla="val 16667" name="adj"/>
            </a:avLst>
          </a:prstGeom>
          <a:solidFill>
            <a:srgbClr val="F7D8D8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New TPU generations ship on Compute Engine and GKE; v5e stays on the Cloud TPU API</a:t>
            </a:r>
            <a:endParaRPr sz="13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59" name="Google Shape;359;p42"/>
          <p:cNvSpPr/>
          <p:nvPr/>
        </p:nvSpPr>
        <p:spPr>
          <a:xfrm>
            <a:off x="4648200" y="2235200"/>
            <a:ext cx="4191000" cy="1066800"/>
          </a:xfrm>
          <a:prstGeom prst="roundRect">
            <a:avLst>
              <a:gd fmla="val 16667" name="adj"/>
            </a:avLst>
          </a:prstGeom>
          <a:solidFill>
            <a:srgbClr val="CCF6C5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Probe capacity with a spot create; read quota by metric name</a:t>
            </a:r>
            <a:endParaRPr sz="13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60" name="Google Shape;360;p42"/>
          <p:cNvSpPr/>
          <p:nvPr/>
        </p:nvSpPr>
        <p:spPr>
          <a:xfrm>
            <a:off x="304800" y="3454400"/>
            <a:ext cx="4191000" cy="1066800"/>
          </a:xfrm>
          <a:prstGeom prst="roundRect">
            <a:avLst>
              <a:gd fmla="val 16667" name="adj"/>
            </a:avLst>
          </a:prstGeom>
          <a:solidFill>
            <a:srgbClr val="FFE7A5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Health-check the port: RUNNING and ACTIVE only say the machine is up</a:t>
            </a:r>
            <a:endParaRPr sz="13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61" name="Google Shape;361;p42"/>
          <p:cNvSpPr/>
          <p:nvPr/>
        </p:nvSpPr>
        <p:spPr>
          <a:xfrm>
            <a:off x="4648200" y="3454400"/>
            <a:ext cx="4191000" cy="1066800"/>
          </a:xfrm>
          <a:prstGeom prst="roundRect">
            <a:avLst>
              <a:gd fmla="val 16667" name="adj"/>
            </a:avLst>
          </a:prstGeom>
          <a:solidFill>
            <a:srgbClr val="C3ECF6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An MCP server turns the whole lifecycle into prompts, including teardown</a:t>
            </a:r>
            <a:endParaRPr sz="13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6" name="Google Shape;366;p43"/>
          <p:cNvPicPr preferRelativeResize="0"/>
          <p:nvPr/>
        </p:nvPicPr>
        <p:blipFill rotWithShape="1">
          <a:blip r:embed="rId3">
            <a:alphaModFix/>
          </a:blip>
          <a:srcRect b="0" l="0" r="19485" t="0"/>
          <a:stretch/>
        </p:blipFill>
        <p:spPr>
          <a:xfrm>
            <a:off x="7188567" y="266850"/>
            <a:ext cx="1743734" cy="24215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43"/>
          <p:cNvSpPr/>
          <p:nvPr/>
        </p:nvSpPr>
        <p:spPr>
          <a:xfrm>
            <a:off x="304800" y="254000"/>
            <a:ext cx="1276500" cy="53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Links</a:t>
            </a:r>
            <a:endParaRPr sz="22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68" name="Google Shape;368;p43"/>
          <p:cNvSpPr/>
          <p:nvPr/>
        </p:nvSpPr>
        <p:spPr>
          <a:xfrm>
            <a:off x="304800" y="1016000"/>
            <a:ext cx="507990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Rigs and results</a:t>
            </a:r>
            <a:endParaRPr sz="11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github.com/xbill9/gemma4-dev</a:t>
            </a:r>
            <a:endParaRPr sz="11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tpu-inference</a:t>
            </a:r>
            <a:endParaRPr sz="11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github.com/vllm-project/tpu-inference</a:t>
            </a:r>
            <a:endParaRPr sz="11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The unofficial TPU migration guide</a:t>
            </a:r>
            <a:endParaRPr sz="11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dev.to/gde/the-unofficial-tpu-migration-guide-cloud-tpu-api-to-compute-engine-2co7</a:t>
            </a:r>
            <a:endParaRPr sz="11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TPU docs and pricing</a:t>
            </a:r>
            <a:endParaRPr sz="11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docs.cloud.google.com/tpu/docs</a:t>
            </a:r>
            <a:endParaRPr sz="11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cloud.google.com/tpu/pricing</a:t>
            </a:r>
            <a:endParaRPr sz="11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69" name="Google Shape;369;p43"/>
          <p:cNvSpPr/>
          <p:nvPr/>
        </p:nvSpPr>
        <p:spPr>
          <a:xfrm>
            <a:off x="5588000" y="1016000"/>
            <a:ext cx="3251100" cy="3429000"/>
          </a:xfrm>
          <a:prstGeom prst="roundRect">
            <a:avLst>
              <a:gd fmla="val 16667" name="adj"/>
            </a:avLst>
          </a:prstGeom>
          <a:solidFill>
            <a:srgbClr val="C3ECF6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Where to Find Me</a:t>
            </a:r>
            <a:endParaRPr b="1" sz="1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LinkedIn  linkedin.com/in/xbill</a:t>
            </a:r>
            <a:endParaRPr sz="12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Dev.to  dev.to/xbill</a:t>
            </a:r>
            <a:endParaRPr sz="12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Medium  medium.com/@xbill999</a:t>
            </a:r>
            <a:endParaRPr sz="12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GitHub  github.com/xbill9</a:t>
            </a:r>
            <a:endParaRPr sz="12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Hugging Face  huggingface.co/xbill9</a:t>
            </a:r>
            <a:endParaRPr sz="12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4"/>
          <p:cNvSpPr/>
          <p:nvPr/>
        </p:nvSpPr>
        <p:spPr>
          <a:xfrm>
            <a:off x="0" y="0"/>
            <a:ext cx="9144000" cy="4510800"/>
          </a:xfrm>
          <a:prstGeom prst="rect">
            <a:avLst/>
          </a:prstGeom>
          <a:solidFill>
            <a:srgbClr val="FFE7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75" name="Google Shape;375;p44"/>
          <p:cNvSpPr/>
          <p:nvPr/>
        </p:nvSpPr>
        <p:spPr>
          <a:xfrm>
            <a:off x="3961150" y="1870238"/>
            <a:ext cx="4805100" cy="2107500"/>
          </a:xfrm>
          <a:prstGeom prst="roundRect">
            <a:avLst>
              <a:gd fmla="val 7725" name="adj"/>
            </a:avLst>
          </a:prstGeom>
          <a:solidFill>
            <a:schemeClr val="lt1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28600" spcFirstLastPara="1" rIns="4572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4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Questions?</a:t>
            </a:r>
            <a:endParaRPr sz="34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1E1E1E"/>
                </a:solidFill>
                <a:latin typeface="Roboto Mono"/>
                <a:ea typeface="Roboto Mono"/>
                <a:cs typeface="Roboto Mono"/>
                <a:sym typeface="Roboto Mono"/>
              </a:rPr>
              <a:t>github.com/xbill9/gemma4-dev</a:t>
            </a:r>
            <a:endParaRPr sz="1200">
              <a:solidFill>
                <a:srgbClr val="1E1E1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pSp>
        <p:nvGrpSpPr>
          <p:cNvPr id="376" name="Google Shape;376;p44"/>
          <p:cNvGrpSpPr/>
          <p:nvPr/>
        </p:nvGrpSpPr>
        <p:grpSpPr>
          <a:xfrm>
            <a:off x="-134194" y="-147922"/>
            <a:ext cx="5154817" cy="2107563"/>
            <a:chOff x="4880208" y="88897"/>
            <a:chExt cx="4135101" cy="1690649"/>
          </a:xfrm>
        </p:grpSpPr>
        <p:pic>
          <p:nvPicPr>
            <p:cNvPr id="377" name="Google Shape;377;p44"/>
            <p:cNvPicPr preferRelativeResize="0"/>
            <p:nvPr/>
          </p:nvPicPr>
          <p:blipFill rotWithShape="1">
            <a:blip r:embed="rId3">
              <a:alphaModFix/>
            </a:blip>
            <a:srcRect b="63658" l="0" r="50000" t="0"/>
            <a:stretch/>
          </p:blipFill>
          <p:spPr>
            <a:xfrm>
              <a:off x="4880208" y="88897"/>
              <a:ext cx="4135101" cy="16906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8" name="Google Shape;378;p44"/>
            <p:cNvSpPr txBox="1"/>
            <p:nvPr/>
          </p:nvSpPr>
          <p:spPr>
            <a:xfrm>
              <a:off x="5619657" y="936802"/>
              <a:ext cx="1418400" cy="31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3975" lIns="113975" spcFirstLastPara="1" rIns="113975" wrap="square" tIns="113975">
              <a:noAutofit/>
            </a:bodyPr>
            <a:lstStyle/>
            <a:p>
              <a:pPr indent="0" lvl="0" marL="0" rtl="0" algn="ctr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22">
                  <a:solidFill>
                    <a:schemeClr val="dk1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2026</a:t>
              </a:r>
              <a:endParaRPr sz="1122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</p:grpSp>
      <p:grpSp>
        <p:nvGrpSpPr>
          <p:cNvPr id="379" name="Google Shape;379;p44"/>
          <p:cNvGrpSpPr/>
          <p:nvPr/>
        </p:nvGrpSpPr>
        <p:grpSpPr>
          <a:xfrm>
            <a:off x="242453" y="4616453"/>
            <a:ext cx="8563473" cy="447000"/>
            <a:chOff x="202766" y="4576765"/>
            <a:chExt cx="8563473" cy="447000"/>
          </a:xfrm>
        </p:grpSpPr>
        <p:grpSp>
          <p:nvGrpSpPr>
            <p:cNvPr id="380" name="Google Shape;380;p44"/>
            <p:cNvGrpSpPr/>
            <p:nvPr/>
          </p:nvGrpSpPr>
          <p:grpSpPr>
            <a:xfrm>
              <a:off x="202766" y="4576765"/>
              <a:ext cx="7802107" cy="447000"/>
              <a:chOff x="2" y="4576750"/>
              <a:chExt cx="7802107" cy="447000"/>
            </a:xfrm>
          </p:grpSpPr>
          <p:grpSp>
            <p:nvGrpSpPr>
              <p:cNvPr id="381" name="Google Shape;381;p44"/>
              <p:cNvGrpSpPr/>
              <p:nvPr/>
            </p:nvGrpSpPr>
            <p:grpSpPr>
              <a:xfrm>
                <a:off x="2" y="4576750"/>
                <a:ext cx="4424670" cy="425750"/>
                <a:chOff x="2" y="4576750"/>
                <a:chExt cx="4424670" cy="425750"/>
              </a:xfrm>
            </p:grpSpPr>
            <p:pic>
              <p:nvPicPr>
                <p:cNvPr id="382" name="Google Shape;382;p44"/>
                <p:cNvPicPr preferRelativeResize="0"/>
                <p:nvPr/>
              </p:nvPicPr>
              <p:blipFill>
                <a:blip r:embed="rId4">
                  <a:alphaModFix/>
                </a:blip>
                <a:stretch>
                  <a:fillRect/>
                </a:stretch>
              </p:blipFill>
              <p:spPr>
                <a:xfrm>
                  <a:off x="2" y="4576750"/>
                  <a:ext cx="566523" cy="42575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83" name="Google Shape;383;p44"/>
                <p:cNvPicPr preferRelativeResize="0"/>
                <p:nvPr/>
              </p:nvPicPr>
              <p:blipFill>
                <a:blip r:embed="rId5">
                  <a:alphaModFix/>
                </a:blip>
                <a:stretch>
                  <a:fillRect/>
                </a:stretch>
              </p:blipFill>
              <p:spPr>
                <a:xfrm rot="-5400000">
                  <a:off x="2224516" y="4363894"/>
                  <a:ext cx="135942" cy="85148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84" name="Google Shape;384;p44"/>
                <p:cNvPicPr preferRelativeResize="0"/>
                <p:nvPr/>
              </p:nvPicPr>
              <p:blipFill>
                <a:blip r:embed="rId6">
                  <a:alphaModFix/>
                </a:blip>
                <a:stretch>
                  <a:fillRect/>
                </a:stretch>
              </p:blipFill>
              <p:spPr>
                <a:xfrm>
                  <a:off x="772819" y="4596753"/>
                  <a:ext cx="385741" cy="38574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85" name="Google Shape;385;p44"/>
                <p:cNvPicPr preferRelativeResize="0"/>
                <p:nvPr/>
              </p:nvPicPr>
              <p:blipFill>
                <a:blip r:embed="rId7">
                  <a:alphaModFix/>
                </a:blip>
                <a:stretch>
                  <a:fillRect/>
                </a:stretch>
              </p:blipFill>
              <p:spPr>
                <a:xfrm>
                  <a:off x="1364853" y="4616884"/>
                  <a:ext cx="375752" cy="34548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86" name="Google Shape;386;p44"/>
                <p:cNvPicPr preferRelativeResize="0"/>
                <p:nvPr/>
              </p:nvPicPr>
              <p:blipFill>
                <a:blip r:embed="rId6">
                  <a:alphaModFix/>
                </a:blip>
                <a:stretch>
                  <a:fillRect/>
                </a:stretch>
              </p:blipFill>
              <p:spPr>
                <a:xfrm>
                  <a:off x="2844369" y="4596753"/>
                  <a:ext cx="385741" cy="38574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87" name="Google Shape;387;p44"/>
                <p:cNvPicPr preferRelativeResize="0"/>
                <p:nvPr/>
              </p:nvPicPr>
              <p:blipFill>
                <a:blip r:embed="rId4">
                  <a:alphaModFix/>
                </a:blip>
                <a:stretch>
                  <a:fillRect/>
                </a:stretch>
              </p:blipFill>
              <p:spPr>
                <a:xfrm>
                  <a:off x="3356252" y="4576750"/>
                  <a:ext cx="566523" cy="42575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88" name="Google Shape;388;p44"/>
                <p:cNvPicPr preferRelativeResize="0"/>
                <p:nvPr/>
              </p:nvPicPr>
              <p:blipFill>
                <a:blip r:embed="rId7">
                  <a:alphaModFix/>
                </a:blip>
                <a:stretch>
                  <a:fillRect/>
                </a:stretch>
              </p:blipFill>
              <p:spPr>
                <a:xfrm>
                  <a:off x="4048920" y="4616884"/>
                  <a:ext cx="375752" cy="34548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pic>
            <p:nvPicPr>
              <p:cNvPr id="389" name="Google Shape;389;p44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572002" y="4598000"/>
                <a:ext cx="566523" cy="4257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90" name="Google Shape;390;p44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 rot="-5400000">
                <a:off x="6796516" y="4385144"/>
                <a:ext cx="135942" cy="85148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91" name="Google Shape;391;p44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5344819" y="4618003"/>
                <a:ext cx="385741" cy="38574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92" name="Google Shape;392;p44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5936853" y="4638134"/>
                <a:ext cx="375752" cy="34548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93" name="Google Shape;393;p44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7416369" y="4618003"/>
                <a:ext cx="385741" cy="38574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394" name="Google Shape;394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199715" y="4587390"/>
              <a:ext cx="566523" cy="4257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95" name="Google Shape;395;p44"/>
          <p:cNvPicPr preferRelativeResize="0"/>
          <p:nvPr/>
        </p:nvPicPr>
        <p:blipFill rotWithShape="1">
          <a:blip r:embed="rId8">
            <a:alphaModFix/>
          </a:blip>
          <a:srcRect b="56723" l="19789" r="60334" t="6085"/>
          <a:stretch/>
        </p:blipFill>
        <p:spPr>
          <a:xfrm>
            <a:off x="1270925" y="1998225"/>
            <a:ext cx="2324750" cy="244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44"/>
          <p:cNvPicPr preferRelativeResize="0"/>
          <p:nvPr/>
        </p:nvPicPr>
        <p:blipFill rotWithShape="1">
          <a:blip r:embed="rId8">
            <a:alphaModFix/>
          </a:blip>
          <a:srcRect b="0" l="19164" r="54318" t="63187"/>
          <a:stretch/>
        </p:blipFill>
        <p:spPr>
          <a:xfrm>
            <a:off x="6577344" y="69563"/>
            <a:ext cx="2446877" cy="1910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